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658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third session in the series. Session 1 covered what LLMs are and Harvard's rules. Session 2 covered using them for literature search, and verifying everything. Today we use them for the thing many of you came to the School to learn: analyzing data. By the end you'll see what's possible, and why you still need to learn to do it yourself. Materials link and QR code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one Student Guide file at [LINK / QR CODE]. The dataset and the R Markdown file are download buttons at the top of the guide. Download it now; you'll need the CSV at minute 27.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results to pace the demos. If most people are in the first two bars of question 1, spend less time on the code and more on the checkpoints. Ask anyone who picked "it got something wrong" to hold that story for the discussion at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poll, show results, and do NOT reveal the answer yet. We'll come back to this table during Spot the Bug. (The problem: race is stored as integer codes 1 to 5, so it was modeled as a continuous number. Fixing it changes the BMI finding and reveals a large Black–White difference.)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Session 1: LLMs turn text into vectors and predict the next token. That's excellent for language, code syntax, and summaries. It is not arithmetic.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tokenization differs by model; the point is that the model sees digit fragments, not magnitudes. Many models now call a code tool for math, which helps — but you need to know whether that happened.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are P1 and P2 in section 3 of the Student Guide. Truth (sample SD, n−1): mean 120.52, SD 17.41. These are 25 systolic BP values from the workshop dataset (set.seed(27) in workshop3_analysis.Rmd, section 8). Show the poll spread by model. Common failure modes: mean close but off in the decimals; population SD (17.06) instead of sample SD without saying which; confident wrong SD. Even a correct answer in Round 1 is a lucky prediction, not a calculation.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what your Sandbox model does: some show the executed code in an expandable panel. Ask it: "Show me the exact code you ran and which language it was 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we're not "learning to prompt instead of learning R." The first two errors are loud and an LLM can fix them. The third needs you. Teaching note: the article's list of outdated syntax includes one example that reads backwards in the published text (it seems to favor aggregate() over group_by() + summarize()). Even published guidance deserves a check.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rulebook. A habit loop you can run in 30 seconds for small tasks and take seriously for a thesis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today's session is steps 3 to 5. Steps 1, 2 and 6 are what make it responsible. Verify includes Della Vedova's four checks plus a fifth, the domain check: does this model answer my question? The framework is also section 2 of the Student Guide.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Three-block structure from Della Vedova. Tip from the article: dictate the prompt out loud; people naturally give context, goal and format when speaking. "Explain each line" is the learning version; "code only" is the expert version. Recommend the learning version to this audience.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data: fine to upload to the Sandbox. Open the Sandbox and RStudio side by side. Run the prompts live (P3 to P8 in section 3 of the Student Guide); the knitted workshop3_analysis.html is the fallback with every result already computed.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wording for step 1: "I've uploaded a CSV. Give me an overview of the variables, their types, and any values that look unusual. Then give me the R code to do the same." Keep an eye on whether it catches the 999s without being told. Some models will; many won't mention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first: "Plausible?" Many will say yes; average BMI in US adults is high. Then show the max. Lesson: summary() and sorting in View() catch this in two clicks. The LLM usually won't flag 999 unless you tell it the codebook.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Complete-case analysis is a choice, not a default to ignore. Whether to impute is a question for your advisor or a statistician, not the LLM. Also point out the ggplot warning "Removed 48 rows" — R told us, if we read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ask the model "Summarize these regression results for a manuscript." Then ask the room to find overstatements. This is the text side of the text-vs-numbers point: its prose is fluent, and fluency isn't accuracy.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realistic case for most thesis and practicum work: hospital data, DUA-covered data, anything with identifiers.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Sessions 1 and 2. Note: glimpse() output shows the first few values of every column, so for real PHI, strip them before pasting, or describe the columns in words. When in doubt, ask your data steward or HUIT before, not after.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activity (4 minutes): pairs fill in the P9 template in the Student Guide using the codebook (section 4); take two or three volunteers and run the code they get live in RStudio on the real file. Which prompts worked first try? Usually the ones that stated the coding rules.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and its output are in section 5 of the Student Guide; answers are collapsed in section 9. A: loud. ggplot layers join with +; R's error even says so. B: silent. race is integer 1–5, modeled as one continuous slope. C: silent. Data say "female"; filter matches 0 rows; n = 0 and mean NaN, no warning. Poll: "Which one is most likely to end up in a published paper?" Answer: B. Then reveal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School of Public Health, this is the point: a coding slip didn't just change a p-value, it erased a health disparity. Ask the room: would the "would you submit this?" answer change now? Live follow-up: paste the buggy output into two different Sandbox models and ask "Is anything wrong with this regression?" Compare whether either catches it unprompted.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4 on the right is key: the LLM is decent at answering a specific question, weak at noticing unasked problems. You supply the suspicion; that's domain knowledge. Mini-example from workshop3_analysis.Rmd, section 7: F = 120, 130, NA should average 125. If the code gives 83.3, it treated NA as 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rmarkdown::render("workshop3_analysis.Rmd", output_format = "all") makes the HTML and Word versions; then open output/ to show table1.docx, table1.pptx, bmi_sbp.png. Optional snag worth showing: Knit to PDF with a ≥ in a label fails under pdflatex; the fix is latex_engine: xelatex in the YAML. It's exactly the kind of error to paste into an LLM.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here include your advisor, TAs, the Biostatistics office hours, and consulting services. Also: humans can see the real data under the same confidentiality obligations; the LLM can't.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also section 7 of the Student Guide. Agenda B variant: before showing this, have students submit their own rules to an open poll, then map theirs onto this list.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one answer per question from different tables. Tie question 3 back to Session 1: no School-wide policy; check each syllabus; the Provost guidance says you're responsible for AI-assisted output.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3" name="Text 0"/>
          <p:cNvSpPr txBox="1"/>
          <p:nvPr/>
        </p:nvSpPr>
        <p:spPr>
          <a:xfrm>
            <a:off x="777240" y="685800"/>
            <a:ext cx="10637215" cy="320040"/>
          </a:xfrm>
          <a:prstGeom prst="rect">
            <a:avLst/>
          </a:prstGeom>
          <a:noFill/>
          <a:ln/>
        </p:spPr>
        <p:txBody>
          <a:bodyPr wrap="square" lIns="0" tIns="0" rIns="0" bIns="0" rtlCol="0" anchor="t"/>
          <a:lstStyle/>
          <a:p>
            <a:pPr marL="0" indent="0">
              <a:buNone/>
            </a:pPr>
            <a:r>
              <a:rPr lang="en-US" sz="1400" b="1" kern="0" spc="300" dirty="0">
                <a:solidFill>
                  <a:srgbClr val="F9D9DE"/>
                </a:solidFill>
                <a:latin typeface="Calibri" pitchFamily="34" charset="0"/>
                <a:ea typeface="Calibri" pitchFamily="34" charset="-122"/>
                <a:cs typeface="Calibri" pitchFamily="34" charset="-120"/>
              </a:rPr>
              <a:t>AI WORKSHOP SERIES</a:t>
            </a:r>
            <a:endParaRPr lang="en-US" sz="1400" dirty="0"/>
          </a:p>
        </p:txBody>
      </p:sp>
      <p:sp>
        <p:nvSpPr>
          <p:cNvPr id="4" name="Text 1"/>
          <p:cNvSpPr txBox="1"/>
          <p:nvPr/>
        </p:nvSpPr>
        <p:spPr>
          <a:xfrm>
            <a:off x="777240" y="1920240"/>
            <a:ext cx="10637215" cy="1188720"/>
          </a:xfrm>
          <a:prstGeom prst="rect">
            <a:avLst/>
          </a:prstGeom>
          <a:noFill/>
          <a:ln/>
        </p:spPr>
        <p:txBody>
          <a:bodyPr wrap="square" lIns="0" tIns="0" rIns="0" bIns="0" rtlCol="0" anchor="ctr"/>
          <a:lstStyle/>
          <a:p>
            <a:pPr marL="0" indent="0">
              <a:buNone/>
            </a:pPr>
            <a:r>
              <a:rPr lang="en-US" sz="6600" b="1" dirty="0">
                <a:solidFill>
                  <a:srgbClr val="FFF8F6"/>
                </a:solidFill>
                <a:latin typeface="Cambria" pitchFamily="34" charset="0"/>
                <a:ea typeface="Cambria" pitchFamily="34" charset="-122"/>
                <a:cs typeface="Cambria" pitchFamily="34" charset="-120"/>
              </a:rPr>
              <a:t>Prompt, Run, Verify</a:t>
            </a:r>
            <a:endParaRPr lang="en-US" sz="6600" dirty="0"/>
          </a:p>
        </p:txBody>
      </p:sp>
      <p:sp>
        <p:nvSpPr>
          <p:cNvPr id="5" name="Text 2"/>
          <p:cNvSpPr txBox="1"/>
          <p:nvPr/>
        </p:nvSpPr>
        <p:spPr>
          <a:xfrm>
            <a:off x="777240" y="3154680"/>
            <a:ext cx="10637215" cy="502920"/>
          </a:xfrm>
          <a:prstGeom prst="rect">
            <a:avLst/>
          </a:prstGeom>
          <a:noFill/>
          <a:ln/>
        </p:spPr>
        <p:txBody>
          <a:bodyPr wrap="square" lIns="0" tIns="0" rIns="0" bIns="0" rtlCol="0" anchor="t"/>
          <a:lstStyle/>
          <a:p>
            <a:pPr marL="0" indent="0">
              <a:buNone/>
            </a:pPr>
            <a:r>
              <a:rPr lang="en-US" sz="2400" dirty="0">
                <a:solidFill>
                  <a:srgbClr val="F9D9DE"/>
                </a:solidFill>
                <a:latin typeface="Calibri" pitchFamily="34" charset="0"/>
                <a:ea typeface="Calibri" pitchFamily="34" charset="-122"/>
                <a:cs typeface="Calibri" pitchFamily="34" charset="-120"/>
              </a:rPr>
              <a:t>Using LLMs for Data Analysis in Public Health</a:t>
            </a:r>
            <a:endParaRPr lang="en-US" sz="2400" dirty="0"/>
          </a:p>
        </p:txBody>
      </p:sp>
      <p:sp>
        <p:nvSpPr>
          <p:cNvPr id="6" name="Text 3"/>
          <p:cNvSpPr txBox="1"/>
          <p:nvPr/>
        </p:nvSpPr>
        <p:spPr>
          <a:xfrm>
            <a:off x="777240" y="4892040"/>
            <a:ext cx="10637215" cy="1188720"/>
          </a:xfrm>
          <a:prstGeom prst="rect">
            <a:avLst/>
          </a:prstGeom>
          <a:noFill/>
          <a:ln/>
        </p:spPr>
        <p:txBody>
          <a:bodyPr wrap="square" lIns="0" tIns="0" rIns="0" bIns="0" rtlCol="0" anchor="t"/>
          <a:lstStyle/>
          <a:p>
            <a:pPr marL="0" indent="0">
              <a:lnSpc>
                <a:spcPct val="120000"/>
              </a:lnSpc>
              <a:buNone/>
            </a:pPr>
            <a:r>
              <a:rPr lang="en-US" sz="1600" dirty="0">
                <a:solidFill>
                  <a:srgbClr val="FFF8F6"/>
                </a:solidFill>
                <a:latin typeface="Calibri" pitchFamily="34" charset="0"/>
                <a:ea typeface="Calibri" pitchFamily="34" charset="-122"/>
                <a:cs typeface="Calibri" pitchFamily="34" charset="-120"/>
              </a:rPr>
              <a:t>September 30, 2026</a:t>
            </a:r>
            <a:endParaRPr lang="en-US" sz="1600" dirty="0"/>
          </a:p>
          <a:p>
            <a:pPr marL="0" indent="0">
              <a:lnSpc>
                <a:spcPct val="120000"/>
              </a:lnSpc>
              <a:buNone/>
            </a:pPr>
            <a:r>
              <a:rPr lang="en-US" sz="1600" dirty="0">
                <a:solidFill>
                  <a:srgbClr val="FFF8F6"/>
                </a:solidFill>
                <a:latin typeface="Calibri" pitchFamily="34" charset="0"/>
                <a:ea typeface="Calibri" pitchFamily="34" charset="-122"/>
                <a:cs typeface="Calibri" pitchFamily="34" charset="-120"/>
              </a:rPr>
              <a:t>Heather Mattie, PhD</a:t>
            </a:r>
            <a:endParaRPr lang="en-US" sz="1600" dirty="0"/>
          </a:p>
          <a:p>
            <a:pPr marL="0" indent="0">
              <a:lnSpc>
                <a:spcPct val="120000"/>
              </a:lnSpc>
              <a:buNone/>
            </a:pPr>
            <a:r>
              <a:rPr lang="en-US" sz="1600" dirty="0">
                <a:solidFill>
                  <a:srgbClr val="F9D9DE"/>
                </a:solidFill>
                <a:latin typeface="Calibri" pitchFamily="34" charset="0"/>
                <a:ea typeface="Calibri" pitchFamily="34" charset="-122"/>
                <a:cs typeface="Calibri" pitchFamily="34" charset="-120"/>
              </a:rPr>
              <a:t>Department of Biostatistics · Harvard T.H. Chan School of Public Health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822960"/>
            <a:ext cx="3474720" cy="914400"/>
          </a:xfrm>
          <a:prstGeom prst="rect">
            <a:avLst/>
          </a:prstGeom>
          <a:noFill/>
          <a:ln/>
        </p:spPr>
        <p:txBody>
          <a:bodyPr wrap="square" lIns="0" tIns="0" rIns="0" bIns="0" rtlCol="0" anchor="t"/>
          <a:lstStyle/>
          <a:p>
            <a:pPr marL="0" indent="0">
              <a:buNone/>
            </a:pPr>
            <a:r>
              <a:rPr lang="en-US" sz="4800" b="1" dirty="0">
                <a:solidFill>
                  <a:srgbClr val="A51C30"/>
                </a:solidFill>
                <a:latin typeface="Cambria" pitchFamily="34" charset="0"/>
                <a:ea typeface="Cambria" pitchFamily="34" charset="-122"/>
                <a:cs typeface="Cambria" pitchFamily="34" charset="-120"/>
              </a:rPr>
              <a:t>Agenda</a:t>
            </a:r>
            <a:endParaRPr lang="en-US" sz="4800" dirty="0"/>
          </a:p>
        </p:txBody>
      </p:sp>
      <p:sp>
        <p:nvSpPr>
          <p:cNvPr id="5" name="Text 2"/>
          <p:cNvSpPr txBox="1"/>
          <p:nvPr/>
        </p:nvSpPr>
        <p:spPr>
          <a:xfrm>
            <a:off x="822960" y="2128520"/>
            <a:ext cx="9418320" cy="53035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Warm-up and "Would you submit this?"</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How LLMs handle numbers vs. text</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A framework: Plan → Own</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Demo 1: analysis with an uploaded file</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Demo 2: when you can't upload the data</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Spot the bug</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One analysis, many export formats</a:t>
            </a:r>
            <a:endParaRPr lang="en-US" sz="2400" dirty="0"/>
          </a:p>
          <a:p>
            <a:pPr marL="342900" indent="-342900">
              <a:spcAft>
                <a:spcPts val="1000"/>
              </a:spcAft>
              <a:buSzPct val="100000"/>
              <a:buChar char="•"/>
            </a:pPr>
            <a:r>
              <a:rPr lang="en-US" sz="2400" dirty="0">
                <a:solidFill>
                  <a:srgbClr val="2A1E21"/>
                </a:solidFill>
                <a:latin typeface="Calibri" pitchFamily="34" charset="0"/>
                <a:ea typeface="Calibri" pitchFamily="34" charset="-122"/>
                <a:cs typeface="Calibri" pitchFamily="34" charset="-120"/>
              </a:rPr>
              <a:t>Dos and don'ts, discussion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POLL</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Where are you starting from?</a:t>
            </a:r>
            <a:endParaRPr lang="en-US" sz="3200" dirty="0"/>
          </a:p>
        </p:txBody>
      </p:sp>
      <p:sp>
        <p:nvSpPr>
          <p:cNvPr id="5" name="Shape 2"/>
          <p:cNvSpPr/>
          <p:nvPr/>
        </p:nvSpPr>
        <p:spPr>
          <a:xfrm>
            <a:off x="777240" y="1920240"/>
            <a:ext cx="5175504" cy="4160520"/>
          </a:xfrm>
          <a:prstGeom prst="roundRect">
            <a:avLst>
              <a:gd name="adj" fmla="val 2637"/>
            </a:avLst>
          </a:prstGeom>
          <a:solidFill>
            <a:srgbClr val="A51C30"/>
          </a:solidFill>
          <a:ln w="9525">
            <a:solidFill>
              <a:srgbClr val="A51C30"/>
            </a:solidFill>
            <a:prstDash val="solid"/>
          </a:ln>
        </p:spPr>
        <p:txBody>
          <a:bodyPr/>
          <a:lstStyle/>
          <a:p>
            <a:endParaRPr lang="en-US"/>
          </a:p>
        </p:txBody>
      </p:sp>
      <p:sp>
        <p:nvSpPr>
          <p:cNvPr id="6" name="Shape 3"/>
          <p:cNvSpPr/>
          <p:nvPr/>
        </p:nvSpPr>
        <p:spPr>
          <a:xfrm>
            <a:off x="777240" y="1984248"/>
            <a:ext cx="5175504" cy="4096512"/>
          </a:xfrm>
          <a:prstGeom prst="roundRect">
            <a:avLst>
              <a:gd name="adj" fmla="val 2679"/>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97280" y="2240280"/>
            <a:ext cx="4572000" cy="822960"/>
          </a:xfrm>
          <a:prstGeom prst="rect">
            <a:avLst/>
          </a:prstGeom>
          <a:noFill/>
          <a:ln/>
        </p:spPr>
        <p:txBody>
          <a:bodyPr wrap="square" lIns="0" tIns="0" rIns="0" bIns="0" rtlCol="0" anchor="t"/>
          <a:lstStyle/>
          <a:p>
            <a:pPr marL="0" indent="0">
              <a:buNone/>
            </a:pPr>
            <a:r>
              <a:rPr lang="en-US" sz="2000" b="1" dirty="0">
                <a:solidFill>
                  <a:srgbClr val="2A1E21"/>
                </a:solidFill>
                <a:latin typeface="Calibri" pitchFamily="34" charset="0"/>
                <a:ea typeface="Calibri" pitchFamily="34" charset="-122"/>
                <a:cs typeface="Calibri" pitchFamily="34" charset="-120"/>
              </a:rPr>
              <a:t>1. How comfortable are you writing R?</a:t>
            </a:r>
            <a:endParaRPr lang="en-US" sz="2000" dirty="0"/>
          </a:p>
        </p:txBody>
      </p:sp>
      <p:sp>
        <p:nvSpPr>
          <p:cNvPr id="8" name="Text 5"/>
          <p:cNvSpPr txBox="1"/>
          <p:nvPr/>
        </p:nvSpPr>
        <p:spPr>
          <a:xfrm>
            <a:off x="1097280" y="3154680"/>
            <a:ext cx="457200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Never used it</a:t>
            </a:r>
            <a:endParaRPr lang="en-US" sz="1600" dirty="0"/>
          </a:p>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I can run code someone gives me</a:t>
            </a:r>
            <a:endParaRPr lang="en-US" sz="1600" dirty="0"/>
          </a:p>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I can write basic analyses</a:t>
            </a:r>
            <a:endParaRPr lang="en-US" sz="1600" dirty="0"/>
          </a:p>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I write R regularly</a:t>
            </a:r>
            <a:endParaRPr lang="en-US" sz="1600" dirty="0"/>
          </a:p>
        </p:txBody>
      </p:sp>
      <p:sp>
        <p:nvSpPr>
          <p:cNvPr id="9" name="Shape 6"/>
          <p:cNvSpPr/>
          <p:nvPr/>
        </p:nvSpPr>
        <p:spPr>
          <a:xfrm>
            <a:off x="6236208" y="1920240"/>
            <a:ext cx="5175504" cy="4160520"/>
          </a:xfrm>
          <a:prstGeom prst="roundRect">
            <a:avLst>
              <a:gd name="adj" fmla="val 2637"/>
            </a:avLst>
          </a:prstGeom>
          <a:solidFill>
            <a:srgbClr val="A51C30"/>
          </a:solidFill>
          <a:ln w="9525">
            <a:solidFill>
              <a:srgbClr val="A51C30"/>
            </a:solidFill>
            <a:prstDash val="solid"/>
          </a:ln>
        </p:spPr>
        <p:txBody>
          <a:bodyPr/>
          <a:lstStyle/>
          <a:p>
            <a:endParaRPr lang="en-US"/>
          </a:p>
        </p:txBody>
      </p:sp>
      <p:sp>
        <p:nvSpPr>
          <p:cNvPr id="10" name="Shape 7"/>
          <p:cNvSpPr/>
          <p:nvPr/>
        </p:nvSpPr>
        <p:spPr>
          <a:xfrm>
            <a:off x="6236208" y="1984248"/>
            <a:ext cx="5175504" cy="4096512"/>
          </a:xfrm>
          <a:prstGeom prst="roundRect">
            <a:avLst>
              <a:gd name="adj" fmla="val 2679"/>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6556248" y="2240280"/>
            <a:ext cx="4572000" cy="822960"/>
          </a:xfrm>
          <a:prstGeom prst="rect">
            <a:avLst/>
          </a:prstGeom>
          <a:noFill/>
          <a:ln/>
        </p:spPr>
        <p:txBody>
          <a:bodyPr wrap="square" lIns="0" tIns="0" rIns="0" bIns="0" rtlCol="0" anchor="t"/>
          <a:lstStyle/>
          <a:p>
            <a:pPr marL="0" indent="0">
              <a:buNone/>
            </a:pPr>
            <a:r>
              <a:rPr lang="en-US" sz="2000" b="1" dirty="0">
                <a:solidFill>
                  <a:srgbClr val="2A1E21"/>
                </a:solidFill>
                <a:latin typeface="Calibri" pitchFamily="34" charset="0"/>
                <a:ea typeface="Calibri" pitchFamily="34" charset="-122"/>
                <a:cs typeface="Calibri" pitchFamily="34" charset="-120"/>
              </a:rPr>
              <a:t>2. Have you asked an LLM to help analyze data?</a:t>
            </a:r>
            <a:endParaRPr lang="en-US" sz="2000" dirty="0"/>
          </a:p>
        </p:txBody>
      </p:sp>
      <p:sp>
        <p:nvSpPr>
          <p:cNvPr id="12" name="Text 9"/>
          <p:cNvSpPr txBox="1"/>
          <p:nvPr/>
        </p:nvSpPr>
        <p:spPr>
          <a:xfrm>
            <a:off x="6556248" y="3154680"/>
            <a:ext cx="457200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No</a:t>
            </a:r>
            <a:endParaRPr lang="en-US" sz="1600" dirty="0"/>
          </a:p>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Yes, for code</a:t>
            </a:r>
            <a:endParaRPr lang="en-US" sz="1600" dirty="0"/>
          </a:p>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Yes, it calculated results for me</a:t>
            </a:r>
            <a:endParaRPr lang="en-US" sz="1600" dirty="0"/>
          </a:p>
          <a:p>
            <a:pPr marL="342900" indent="-342900">
              <a:spcAft>
                <a:spcPts val="800"/>
              </a:spcAft>
              <a:buSzPct val="100000"/>
              <a:buChar char="•"/>
            </a:pPr>
            <a:r>
              <a:rPr lang="en-US" sz="1600" dirty="0">
                <a:solidFill>
                  <a:srgbClr val="5F5256"/>
                </a:solidFill>
                <a:latin typeface="Calibri" pitchFamily="34" charset="0"/>
                <a:ea typeface="Calibri" pitchFamily="34" charset="-122"/>
                <a:cs typeface="Calibri" pitchFamily="34" charset="-120"/>
              </a:rPr>
              <a:t>Yes, and it got something wrong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POLL · WOULD YOU SUBMIT THIS?</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An LLM ran this regression in 10 seconds</a:t>
            </a:r>
            <a:endParaRPr lang="en-US" sz="3200" dirty="0"/>
          </a:p>
        </p:txBody>
      </p:sp>
      <p:sp>
        <p:nvSpPr>
          <p:cNvPr id="5" name="Text 2"/>
          <p:cNvSpPr txBox="1"/>
          <p:nvPr/>
        </p:nvSpPr>
        <p:spPr>
          <a:xfrm>
            <a:off x="548640" y="2043684"/>
            <a:ext cx="6858000" cy="36576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Prompt: "Fit a linear regression of systolic BP on BMI, age, sex, and race."</a:t>
            </a:r>
            <a:endParaRPr lang="en-US" dirty="0"/>
          </a:p>
        </p:txBody>
      </p:sp>
      <p:graphicFrame>
        <p:nvGraphicFramePr>
          <p:cNvPr id="2" name="Table 0"/>
          <p:cNvGraphicFramePr>
            <a:graphicFrameLocks noGrp="1"/>
          </p:cNvGraphicFramePr>
          <p:nvPr>
            <p:extLst>
              <p:ext uri="{D42A27DB-BD31-4B8C-83A1-F6EECF244321}">
                <p14:modId xmlns:p14="http://schemas.microsoft.com/office/powerpoint/2010/main" val="2182082587"/>
              </p:ext>
            </p:extLst>
          </p:nvPr>
        </p:nvGraphicFramePr>
        <p:xfrm>
          <a:off x="777240" y="2560320"/>
          <a:ext cx="6400800" cy="246888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2A1E21"/>
                          </a:solidFill>
                          <a:latin typeface="Courier New" pitchFamily="34" charset="0"/>
                          <a:ea typeface="Courier New" pitchFamily="34" charset="-122"/>
                          <a:cs typeface="Courier New" pitchFamily="34" charset="-120"/>
                        </a:rPr>
                        <a:t>Term</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400" b="1" dirty="0">
                          <a:solidFill>
                            <a:srgbClr val="2A1E21"/>
                          </a:solidFill>
                          <a:latin typeface="Courier New" pitchFamily="34" charset="0"/>
                          <a:ea typeface="Courier New" pitchFamily="34" charset="-122"/>
                          <a:cs typeface="Courier New" pitchFamily="34" charset="-120"/>
                        </a:rPr>
                        <a:t>Estimate</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400" b="1" dirty="0">
                          <a:solidFill>
                            <a:srgbClr val="2A1E21"/>
                          </a:solidFill>
                          <a:latin typeface="Courier New" pitchFamily="34" charset="0"/>
                          <a:ea typeface="Courier New" pitchFamily="34" charset="-122"/>
                          <a:cs typeface="Courier New" pitchFamily="34" charset="-120"/>
                        </a:rPr>
                        <a:t>SE</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400" b="1" dirty="0">
                          <a:solidFill>
                            <a:srgbClr val="2A1E21"/>
                          </a:solidFill>
                          <a:latin typeface="Courier New" pitchFamily="34" charset="0"/>
                          <a:ea typeface="Courier New" pitchFamily="34" charset="-122"/>
                          <a:cs typeface="Courier New" pitchFamily="34" charset="-120"/>
                        </a:rPr>
                        <a:t>p</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(Intercept)</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91.288</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2.918</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&lt;0.001</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bmi</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0.187</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0.077</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0.016</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age</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0.464</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0.030</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&lt;0.001</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sexmale</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5.585</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1.009</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&lt;0.001</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race</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-0.039</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0.384</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400" dirty="0">
                          <a:solidFill>
                            <a:srgbClr val="2A1E21"/>
                          </a:solidFill>
                          <a:latin typeface="Courier New" pitchFamily="34" charset="0"/>
                          <a:ea typeface="Courier New" pitchFamily="34" charset="-122"/>
                          <a:cs typeface="Courier New" pitchFamily="34" charset="-120"/>
                        </a:rPr>
                        <a:t>0.919</a:t>
                      </a:r>
                      <a:endParaRPr lang="en-US" sz="14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3"/>
          <p:cNvSpPr/>
          <p:nvPr/>
        </p:nvSpPr>
        <p:spPr>
          <a:xfrm>
            <a:off x="7635240" y="2194560"/>
            <a:ext cx="3776472" cy="3291840"/>
          </a:xfrm>
          <a:prstGeom prst="roundRect">
            <a:avLst>
              <a:gd name="adj" fmla="val 3333"/>
            </a:avLst>
          </a:prstGeom>
          <a:solidFill>
            <a:srgbClr val="F7ECEE"/>
          </a:solidFill>
          <a:ln w="9525">
            <a:solidFill>
              <a:srgbClr val="E8D3D7"/>
            </a:solidFill>
            <a:prstDash val="solid"/>
          </a:ln>
        </p:spPr>
        <p:txBody>
          <a:bodyPr/>
          <a:lstStyle/>
          <a:p>
            <a:endParaRPr lang="en-US"/>
          </a:p>
        </p:txBody>
      </p:sp>
      <p:sp>
        <p:nvSpPr>
          <p:cNvPr id="8" name="Text 4"/>
          <p:cNvSpPr txBox="1"/>
          <p:nvPr/>
        </p:nvSpPr>
        <p:spPr>
          <a:xfrm>
            <a:off x="7955280" y="2514600"/>
            <a:ext cx="3200400" cy="457200"/>
          </a:xfrm>
          <a:prstGeom prst="rect">
            <a:avLst/>
          </a:prstGeom>
          <a:noFill/>
          <a:ln/>
        </p:spPr>
        <p:txBody>
          <a:bodyPr wrap="square" lIns="0" tIns="0" rIns="0" bIns="0" rtlCol="0" anchor="t"/>
          <a:lstStyle/>
          <a:p>
            <a:pPr marL="0" indent="0">
              <a:buNone/>
            </a:pPr>
            <a:r>
              <a:rPr lang="en-US" sz="2000" b="1" dirty="0">
                <a:solidFill>
                  <a:srgbClr val="A51C30"/>
                </a:solidFill>
                <a:latin typeface="Calibri" pitchFamily="34" charset="0"/>
                <a:ea typeface="Calibri" pitchFamily="34" charset="-122"/>
                <a:cs typeface="Calibri" pitchFamily="34" charset="-120"/>
              </a:rPr>
              <a:t>The LLM's summary</a:t>
            </a:r>
            <a:endParaRPr lang="en-US" sz="2000" dirty="0"/>
          </a:p>
        </p:txBody>
      </p:sp>
      <p:sp>
        <p:nvSpPr>
          <p:cNvPr id="9" name="Text 5"/>
          <p:cNvSpPr txBox="1"/>
          <p:nvPr/>
        </p:nvSpPr>
        <p:spPr>
          <a:xfrm>
            <a:off x="7955280" y="3063240"/>
            <a:ext cx="3200400" cy="1554480"/>
          </a:xfrm>
          <a:prstGeom prst="rect">
            <a:avLst/>
          </a:prstGeom>
          <a:noFill/>
          <a:ln/>
        </p:spPr>
        <p:txBody>
          <a:bodyPr wrap="square" lIns="0" tIns="0" rIns="0" bIns="0" rtlCol="0" anchor="t"/>
          <a:lstStyle/>
          <a:p>
            <a:pPr marL="0" indent="0">
              <a:buNone/>
            </a:pPr>
            <a:r>
              <a:rPr lang="en-US" dirty="0">
                <a:solidFill>
                  <a:srgbClr val="2A1E21"/>
                </a:solidFill>
                <a:latin typeface="Calibri" pitchFamily="34" charset="0"/>
                <a:ea typeface="Calibri" pitchFamily="34" charset="-122"/>
                <a:cs typeface="Calibri" pitchFamily="34" charset="-120"/>
              </a:rPr>
              <a:t>"BMI is significantly associated with higher systolic BP. Race is not associated with blood pressure."</a:t>
            </a:r>
            <a:endParaRPr lang="en-US" dirty="0"/>
          </a:p>
        </p:txBody>
      </p:sp>
      <p:sp>
        <p:nvSpPr>
          <p:cNvPr id="10" name="Text 6"/>
          <p:cNvSpPr txBox="1"/>
          <p:nvPr/>
        </p:nvSpPr>
        <p:spPr>
          <a:xfrm>
            <a:off x="7955280" y="4358640"/>
            <a:ext cx="3200400" cy="853440"/>
          </a:xfrm>
          <a:prstGeom prst="rect">
            <a:avLst/>
          </a:prstGeom>
          <a:noFill/>
          <a:ln/>
        </p:spPr>
        <p:txBody>
          <a:bodyPr wrap="square" lIns="0" tIns="0" rIns="0" bIns="0" rtlCol="0" anchor="t"/>
          <a:lstStyle/>
          <a:p>
            <a:pPr marL="0" indent="0">
              <a:buNone/>
            </a:pPr>
            <a:r>
              <a:rPr lang="en-US" sz="1600" b="1" dirty="0">
                <a:solidFill>
                  <a:srgbClr val="A51C30"/>
                </a:solidFill>
                <a:latin typeface="Calibri" pitchFamily="34" charset="0"/>
                <a:ea typeface="Calibri" pitchFamily="34" charset="-122"/>
                <a:cs typeface="Calibri" pitchFamily="34" charset="-120"/>
              </a:rPr>
              <a:t>Would you submit this?</a:t>
            </a:r>
          </a:p>
          <a:p>
            <a:pPr marL="0" indent="0">
              <a:buNone/>
            </a:pPr>
            <a:endParaRPr lang="en-US" sz="1600" b="1" dirty="0">
              <a:solidFill>
                <a:srgbClr val="A51C30"/>
              </a:solidFill>
              <a:latin typeface="Calibri" pitchFamily="34" charset="0"/>
              <a:ea typeface="Calibri" pitchFamily="34" charset="-122"/>
              <a:cs typeface="Calibri" pitchFamily="34" charset="-120"/>
            </a:endParaRPr>
          </a:p>
          <a:p>
            <a:pPr marL="0" indent="0">
              <a:buNone/>
            </a:pPr>
            <a:r>
              <a:rPr lang="en-US" sz="1600" b="1" dirty="0">
                <a:solidFill>
                  <a:srgbClr val="A51C30"/>
                </a:solidFill>
                <a:latin typeface="Calibri" pitchFamily="34" charset="0"/>
                <a:ea typeface="Calibri" pitchFamily="34" charset="-122"/>
                <a:cs typeface="Calibri" pitchFamily="34" charset="-120"/>
              </a:rPr>
              <a:t>Yes / No / Not sure?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ECEE"/>
        </a:solidFill>
        <a:effectLst/>
      </p:bgPr>
    </p:bg>
    <p:spTree>
      <p:nvGrpSpPr>
        <p:cNvPr id="1" name=""/>
        <p:cNvGrpSpPr/>
        <p:nvPr/>
      </p:nvGrpSpPr>
      <p:grpSpPr>
        <a:xfrm>
          <a:off x="0" y="0"/>
          <a:ext cx="0" cy="0"/>
          <a:chOff x="0" y="0"/>
          <a:chExt cx="0" cy="0"/>
        </a:xfrm>
      </p:grpSpPr>
      <p:sp>
        <p:nvSpPr>
          <p:cNvPr id="3" name="Shape 0"/>
          <p:cNvSpPr/>
          <p:nvPr/>
        </p:nvSpPr>
        <p:spPr>
          <a:xfrm>
            <a:off x="0" y="0"/>
            <a:ext cx="155448" cy="6858000"/>
          </a:xfrm>
          <a:prstGeom prst="rect">
            <a:avLst/>
          </a:prstGeom>
          <a:solidFill>
            <a:srgbClr val="A51C30"/>
          </a:solidFill>
          <a:ln w="12700">
            <a:solidFill>
              <a:srgbClr val="A51C30"/>
            </a:solidFill>
            <a:prstDash val="solid"/>
          </a:ln>
        </p:spPr>
        <p:txBody>
          <a:bodyPr/>
          <a:lstStyle/>
          <a:p>
            <a:endParaRPr lang="en-US"/>
          </a:p>
        </p:txBody>
      </p:sp>
      <p:sp>
        <p:nvSpPr>
          <p:cNvPr id="4" name="Text 1"/>
          <p:cNvSpPr txBox="1"/>
          <p:nvPr/>
        </p:nvSpPr>
        <p:spPr>
          <a:xfrm>
            <a:off x="1097280" y="2011680"/>
            <a:ext cx="10058400" cy="320040"/>
          </a:xfrm>
          <a:prstGeom prst="rect">
            <a:avLst/>
          </a:prstGeom>
          <a:noFill/>
          <a:ln/>
        </p:spPr>
        <p:txBody>
          <a:bodyPr wrap="square" lIns="0" tIns="0" rIns="0" bIns="0" rtlCol="0" anchor="t"/>
          <a:lstStyle/>
          <a:p>
            <a:pPr marL="0" indent="0">
              <a:buNone/>
            </a:pPr>
            <a:r>
              <a:rPr lang="en-US" sz="1400" b="1" kern="0" spc="300" dirty="0">
                <a:solidFill>
                  <a:srgbClr val="A51C30"/>
                </a:solidFill>
                <a:latin typeface="Calibri" pitchFamily="34" charset="0"/>
                <a:ea typeface="Calibri" pitchFamily="34" charset="-122"/>
                <a:cs typeface="Calibri" pitchFamily="34" charset="-120"/>
              </a:rPr>
              <a:t>PART 1</a:t>
            </a:r>
            <a:endParaRPr lang="en-US" sz="1400" dirty="0"/>
          </a:p>
        </p:txBody>
      </p:sp>
      <p:sp>
        <p:nvSpPr>
          <p:cNvPr id="5" name="Text 2"/>
          <p:cNvSpPr txBox="1"/>
          <p:nvPr/>
        </p:nvSpPr>
        <p:spPr>
          <a:xfrm>
            <a:off x="1097280" y="2423160"/>
            <a:ext cx="10332720" cy="1828800"/>
          </a:xfrm>
          <a:prstGeom prst="rect">
            <a:avLst/>
          </a:prstGeom>
          <a:noFill/>
          <a:ln/>
        </p:spPr>
        <p:txBody>
          <a:bodyPr wrap="square" lIns="0" tIns="0" rIns="0" bIns="0" rtlCol="0" anchor="t"/>
          <a:lstStyle/>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Words are its native language.</a:t>
            </a:r>
            <a:endParaRPr lang="en-US" sz="5200" dirty="0"/>
          </a:p>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Numbers are not.</a:t>
            </a:r>
            <a:endParaRPr lang="en-US" sz="5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TEXT VS. NUMBERS</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To an LLM, 120.52 is a few tokens, not a quantity</a:t>
            </a:r>
            <a:endParaRPr lang="en-US" sz="3200" dirty="0"/>
          </a:p>
        </p:txBody>
      </p:sp>
      <p:sp>
        <p:nvSpPr>
          <p:cNvPr id="5" name="Shape 2"/>
          <p:cNvSpPr/>
          <p:nvPr/>
        </p:nvSpPr>
        <p:spPr>
          <a:xfrm>
            <a:off x="777240" y="1874520"/>
            <a:ext cx="5175504" cy="3429000"/>
          </a:xfrm>
          <a:prstGeom prst="roundRect">
            <a:avLst>
              <a:gd name="adj" fmla="val 3200"/>
            </a:avLst>
          </a:prstGeom>
          <a:solidFill>
            <a:srgbClr val="4A6272"/>
          </a:solidFill>
          <a:ln w="9525">
            <a:solidFill>
              <a:srgbClr val="4A6272"/>
            </a:solidFill>
            <a:prstDash val="solid"/>
          </a:ln>
        </p:spPr>
        <p:txBody>
          <a:bodyPr/>
          <a:lstStyle/>
          <a:p>
            <a:endParaRPr lang="en-US"/>
          </a:p>
        </p:txBody>
      </p:sp>
      <p:sp>
        <p:nvSpPr>
          <p:cNvPr id="6" name="Shape 3"/>
          <p:cNvSpPr/>
          <p:nvPr/>
        </p:nvSpPr>
        <p:spPr>
          <a:xfrm>
            <a:off x="777240" y="1938528"/>
            <a:ext cx="5175504" cy="3364992"/>
          </a:xfrm>
          <a:prstGeom prst="roundRect">
            <a:avLst>
              <a:gd name="adj" fmla="val 3261"/>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97280" y="2194560"/>
            <a:ext cx="4572000" cy="457200"/>
          </a:xfrm>
          <a:prstGeom prst="rect">
            <a:avLst/>
          </a:prstGeom>
          <a:noFill/>
          <a:ln/>
        </p:spPr>
        <p:txBody>
          <a:bodyPr wrap="square" lIns="0" tIns="0" rIns="0" bIns="0" rtlCol="0" anchor="t"/>
          <a:lstStyle/>
          <a:p>
            <a:pPr marL="0" indent="0">
              <a:buNone/>
            </a:pPr>
            <a:r>
              <a:rPr lang="en-US" sz="2000" b="1" dirty="0">
                <a:solidFill>
                  <a:srgbClr val="4A6272"/>
                </a:solidFill>
                <a:latin typeface="Calibri" pitchFamily="34" charset="0"/>
                <a:ea typeface="Calibri" pitchFamily="34" charset="-122"/>
                <a:cs typeface="Calibri" pitchFamily="34" charset="-120"/>
              </a:rPr>
              <a:t>Text: strong</a:t>
            </a:r>
            <a:endParaRPr lang="en-US" sz="2000" dirty="0"/>
          </a:p>
        </p:txBody>
      </p:sp>
      <p:sp>
        <p:nvSpPr>
          <p:cNvPr id="8" name="Text 5"/>
          <p:cNvSpPr txBox="1"/>
          <p:nvPr/>
        </p:nvSpPr>
        <p:spPr>
          <a:xfrm>
            <a:off x="1097280" y="2743200"/>
            <a:ext cx="4572000" cy="2377440"/>
          </a:xfrm>
          <a:prstGeom prst="rect">
            <a:avLst/>
          </a:prstGeom>
          <a:noFill/>
          <a:ln/>
        </p:spPr>
        <p:txBody>
          <a:bodyPr wrap="square" lIns="0" tIns="0" rIns="0" bIns="0" rtlCol="0" anchor="t"/>
          <a:lstStyle/>
          <a:p>
            <a:pPr marL="0" indent="0">
              <a:spcAft>
                <a:spcPts val="1000"/>
              </a:spcAft>
              <a:buNone/>
            </a:pPr>
            <a:r>
              <a:rPr lang="en-US" dirty="0">
                <a:solidFill>
                  <a:srgbClr val="5F5256"/>
                </a:solidFill>
                <a:latin typeface="Calibri" pitchFamily="34" charset="0"/>
                <a:ea typeface="Calibri" pitchFamily="34" charset="-122"/>
                <a:cs typeface="Calibri" pitchFamily="34" charset="-120"/>
              </a:rPr>
              <a:t>Words have meaning from the company they keep. "Hypertension" sits near "blood pressure," so predictions are usually sensible.</a:t>
            </a:r>
            <a:endParaRPr lang="en-US" dirty="0"/>
          </a:p>
          <a:p>
            <a:pPr marL="0" indent="0">
              <a:spcAft>
                <a:spcPts val="1000"/>
              </a:spcAft>
              <a:buNone/>
            </a:pPr>
            <a:r>
              <a:rPr lang="en-US" dirty="0">
                <a:solidFill>
                  <a:srgbClr val="5F5256"/>
                </a:solidFill>
                <a:latin typeface="Calibri" pitchFamily="34" charset="0"/>
                <a:ea typeface="Calibri" pitchFamily="34" charset="-122"/>
                <a:cs typeface="Calibri" pitchFamily="34" charset="-120"/>
              </a:rPr>
              <a:t>Code is text with strict grammar. There's a lot of R on the internet to learn from.</a:t>
            </a:r>
            <a:endParaRPr lang="en-US" dirty="0"/>
          </a:p>
        </p:txBody>
      </p:sp>
      <p:sp>
        <p:nvSpPr>
          <p:cNvPr id="9" name="Shape 6"/>
          <p:cNvSpPr/>
          <p:nvPr/>
        </p:nvSpPr>
        <p:spPr>
          <a:xfrm>
            <a:off x="6236208" y="1874520"/>
            <a:ext cx="5175504" cy="3429000"/>
          </a:xfrm>
          <a:prstGeom prst="roundRect">
            <a:avLst>
              <a:gd name="adj" fmla="val 3200"/>
            </a:avLst>
          </a:prstGeom>
          <a:solidFill>
            <a:srgbClr val="A51C30"/>
          </a:solidFill>
          <a:ln w="9525">
            <a:solidFill>
              <a:srgbClr val="A51C30"/>
            </a:solidFill>
            <a:prstDash val="solid"/>
          </a:ln>
        </p:spPr>
        <p:txBody>
          <a:bodyPr/>
          <a:lstStyle/>
          <a:p>
            <a:endParaRPr lang="en-US"/>
          </a:p>
        </p:txBody>
      </p:sp>
      <p:sp>
        <p:nvSpPr>
          <p:cNvPr id="10" name="Shape 7"/>
          <p:cNvSpPr/>
          <p:nvPr/>
        </p:nvSpPr>
        <p:spPr>
          <a:xfrm>
            <a:off x="6236208" y="1938528"/>
            <a:ext cx="5175504" cy="3364992"/>
          </a:xfrm>
          <a:prstGeom prst="roundRect">
            <a:avLst>
              <a:gd name="adj" fmla="val 3261"/>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6556248" y="2194560"/>
            <a:ext cx="4572000" cy="457200"/>
          </a:xfrm>
          <a:prstGeom prst="rect">
            <a:avLst/>
          </a:prstGeom>
          <a:noFill/>
          <a:ln/>
        </p:spPr>
        <p:txBody>
          <a:bodyPr wrap="square" lIns="0" tIns="0" rIns="0" bIns="0" rtlCol="0" anchor="t"/>
          <a:lstStyle/>
          <a:p>
            <a:pPr marL="0" indent="0">
              <a:buNone/>
            </a:pPr>
            <a:r>
              <a:rPr lang="en-US" sz="2000" b="1" dirty="0">
                <a:solidFill>
                  <a:srgbClr val="A51C30"/>
                </a:solidFill>
                <a:latin typeface="Calibri" pitchFamily="34" charset="0"/>
                <a:ea typeface="Calibri" pitchFamily="34" charset="-122"/>
                <a:cs typeface="Calibri" pitchFamily="34" charset="-120"/>
              </a:rPr>
              <a:t>Numbers: weak</a:t>
            </a:r>
            <a:endParaRPr lang="en-US" sz="2000" dirty="0"/>
          </a:p>
        </p:txBody>
      </p:sp>
      <p:sp>
        <p:nvSpPr>
          <p:cNvPr id="12" name="Text 9"/>
          <p:cNvSpPr txBox="1"/>
          <p:nvPr/>
        </p:nvSpPr>
        <p:spPr>
          <a:xfrm>
            <a:off x="6556248" y="2743200"/>
            <a:ext cx="4572000" cy="2377440"/>
          </a:xfrm>
          <a:prstGeom prst="rect">
            <a:avLst/>
          </a:prstGeom>
          <a:noFill/>
          <a:ln/>
        </p:spPr>
        <p:txBody>
          <a:bodyPr wrap="square" lIns="0" tIns="0" rIns="0" bIns="0" rtlCol="0" anchor="t"/>
          <a:lstStyle/>
          <a:p>
            <a:pPr marL="0" indent="0">
              <a:spcAft>
                <a:spcPts val="1000"/>
              </a:spcAft>
              <a:buNone/>
            </a:pPr>
            <a:r>
              <a:rPr lang="en-US" dirty="0">
                <a:solidFill>
                  <a:srgbClr val="5F5256"/>
                </a:solidFill>
                <a:latin typeface="Calibri" pitchFamily="34" charset="0"/>
                <a:ea typeface="Calibri" pitchFamily="34" charset="-122"/>
                <a:cs typeface="Calibri" pitchFamily="34" charset="-120"/>
              </a:rPr>
              <a:t>A number may be split into chunks like "120" + "." + "52". The model predicts plausible digits, one chunk at a time.</a:t>
            </a:r>
            <a:endParaRPr lang="en-US" dirty="0"/>
          </a:p>
          <a:p>
            <a:pPr marL="0" indent="0">
              <a:spcAft>
                <a:spcPts val="1000"/>
              </a:spcAft>
              <a:buNone/>
            </a:pPr>
            <a:r>
              <a:rPr lang="en-US" dirty="0">
                <a:solidFill>
                  <a:srgbClr val="5F5256"/>
                </a:solidFill>
                <a:latin typeface="Calibri" pitchFamily="34" charset="0"/>
                <a:ea typeface="Calibri" pitchFamily="34" charset="-122"/>
                <a:cs typeface="Calibri" pitchFamily="34" charset="-120"/>
              </a:rPr>
              <a:t>So a mean, SD, or p-value </a:t>
            </a:r>
            <a:r>
              <a:rPr lang="en-US" b="1" dirty="0">
                <a:solidFill>
                  <a:srgbClr val="5F5256"/>
                </a:solidFill>
                <a:latin typeface="Calibri" pitchFamily="34" charset="0"/>
                <a:ea typeface="Calibri" pitchFamily="34" charset="-122"/>
                <a:cs typeface="Calibri" pitchFamily="34" charset="-120"/>
              </a:rPr>
              <a:t>typed into a chat reply</a:t>
            </a:r>
            <a:r>
              <a:rPr lang="en-US" dirty="0">
                <a:solidFill>
                  <a:srgbClr val="5F5256"/>
                </a:solidFill>
                <a:latin typeface="Calibri" pitchFamily="34" charset="0"/>
                <a:ea typeface="Calibri" pitchFamily="34" charset="-122"/>
                <a:cs typeface="Calibri" pitchFamily="34" charset="-120"/>
              </a:rPr>
              <a:t> can look right and be wrong, with no change in confidence.</a:t>
            </a:r>
            <a:endParaRPr lang="en-US" dirty="0"/>
          </a:p>
        </p:txBody>
      </p:sp>
      <p:sp>
        <p:nvSpPr>
          <p:cNvPr id="13" name="Text 10"/>
          <p:cNvSpPr txBox="1"/>
          <p:nvPr/>
        </p:nvSpPr>
        <p:spPr>
          <a:xfrm>
            <a:off x="777240" y="5577840"/>
            <a:ext cx="10637215" cy="411480"/>
          </a:xfrm>
          <a:prstGeom prst="rect">
            <a:avLst/>
          </a:prstGeom>
          <a:noFill/>
          <a:ln/>
        </p:spPr>
        <p:txBody>
          <a:bodyPr wrap="square" lIns="0" tIns="0" rIns="0" bIns="0" rtlCol="0" anchor="t"/>
          <a:lstStyle/>
          <a:p>
            <a:pPr marL="0" indent="0">
              <a:buNone/>
            </a:pPr>
            <a:r>
              <a:rPr lang="en-US" b="1" dirty="0">
                <a:solidFill>
                  <a:srgbClr val="A51C30"/>
                </a:solidFill>
                <a:latin typeface="Calibri" pitchFamily="34" charset="0"/>
                <a:ea typeface="Calibri" pitchFamily="34" charset="-122"/>
                <a:cs typeface="Calibri" pitchFamily="34" charset="-120"/>
              </a:rPr>
              <a:t>Rule: trust numbers that code printed. Check numbers the LLM typed.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TRY IT</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Ask your model for the mean and SD</a:t>
            </a:r>
            <a:endParaRPr lang="en-US" sz="3200" dirty="0"/>
          </a:p>
        </p:txBody>
      </p:sp>
      <p:sp>
        <p:nvSpPr>
          <p:cNvPr id="5" name="Shape 2"/>
          <p:cNvSpPr/>
          <p:nvPr/>
        </p:nvSpPr>
        <p:spPr>
          <a:xfrm>
            <a:off x="777240" y="1874520"/>
            <a:ext cx="10637215" cy="1143000"/>
          </a:xfrm>
          <a:prstGeom prst="roundRect">
            <a:avLst>
              <a:gd name="adj" fmla="val 9600"/>
            </a:avLst>
          </a:prstGeom>
          <a:solidFill>
            <a:srgbClr val="F7ECEE"/>
          </a:solidFill>
          <a:ln w="9525">
            <a:solidFill>
              <a:srgbClr val="E8D3D7"/>
            </a:solidFill>
            <a:prstDash val="solid"/>
          </a:ln>
        </p:spPr>
        <p:txBody>
          <a:bodyPr/>
          <a:lstStyle/>
          <a:p>
            <a:endParaRPr lang="en-US"/>
          </a:p>
        </p:txBody>
      </p:sp>
      <p:sp>
        <p:nvSpPr>
          <p:cNvPr id="6" name="Text 3"/>
          <p:cNvSpPr txBox="1"/>
          <p:nvPr/>
        </p:nvSpPr>
        <p:spPr>
          <a:xfrm>
            <a:off x="1097280" y="2011680"/>
            <a:ext cx="9997135" cy="868680"/>
          </a:xfrm>
          <a:prstGeom prst="rect">
            <a:avLst/>
          </a:prstGeom>
          <a:noFill/>
          <a:ln/>
        </p:spPr>
        <p:txBody>
          <a:bodyPr wrap="square" lIns="0" tIns="0" rIns="0" bIns="0" rtlCol="0" anchor="ctr"/>
          <a:lstStyle/>
          <a:p>
            <a:pPr marL="0" indent="0">
              <a:buNone/>
            </a:pPr>
            <a:r>
              <a:rPr lang="en-US" sz="1700" dirty="0">
                <a:solidFill>
                  <a:srgbClr val="2A1E21"/>
                </a:solidFill>
                <a:latin typeface="Courier New" pitchFamily="34" charset="0"/>
                <a:ea typeface="Courier New" pitchFamily="34" charset="-122"/>
                <a:cs typeface="Courier New" pitchFamily="34" charset="-120"/>
              </a:rPr>
              <a:t>130, 118, 100, 119, 96, 90, 120, 148, 114, 130, 99, 124, 131, 130, 148, 98, 118, 114, 113, 134, 116, 143, 158, 112, 110</a:t>
            </a:r>
            <a:endParaRPr lang="en-US" sz="1700" dirty="0"/>
          </a:p>
        </p:txBody>
      </p:sp>
      <p:sp>
        <p:nvSpPr>
          <p:cNvPr id="7" name="Text 4"/>
          <p:cNvSpPr txBox="1"/>
          <p:nvPr/>
        </p:nvSpPr>
        <p:spPr>
          <a:xfrm>
            <a:off x="777240" y="3429000"/>
            <a:ext cx="329184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Round 1</a:t>
            </a:r>
            <a:endParaRPr lang="en-US" sz="2400" dirty="0"/>
          </a:p>
        </p:txBody>
      </p:sp>
      <p:sp>
        <p:nvSpPr>
          <p:cNvPr id="8" name="Text 5"/>
          <p:cNvSpPr txBox="1"/>
          <p:nvPr/>
        </p:nvSpPr>
        <p:spPr>
          <a:xfrm>
            <a:off x="777240" y="3931920"/>
            <a:ext cx="3291840" cy="146304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Paste the values. Add: "Don't run any code. Just tell me the mean and SD."</a:t>
            </a:r>
            <a:endParaRPr lang="en-US" sz="2000" dirty="0"/>
          </a:p>
        </p:txBody>
      </p:sp>
      <p:sp>
        <p:nvSpPr>
          <p:cNvPr id="9" name="Text 6"/>
          <p:cNvSpPr txBox="1"/>
          <p:nvPr/>
        </p:nvSpPr>
        <p:spPr>
          <a:xfrm>
            <a:off x="4416552" y="3429000"/>
            <a:ext cx="329184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Round 2</a:t>
            </a:r>
            <a:endParaRPr lang="en-US" sz="2400" dirty="0"/>
          </a:p>
        </p:txBody>
      </p:sp>
      <p:sp>
        <p:nvSpPr>
          <p:cNvPr id="10" name="Text 7"/>
          <p:cNvSpPr txBox="1"/>
          <p:nvPr/>
        </p:nvSpPr>
        <p:spPr>
          <a:xfrm>
            <a:off x="4416552" y="3931920"/>
            <a:ext cx="3291840" cy="146304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Same question with code execution on. Did it show you the code?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WHERE DID THE NUMBER COME FROM?</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Three ways to get a result, three levels of trust</a:t>
            </a:r>
            <a:endParaRPr lang="en-US" sz="3200" dirty="0"/>
          </a:p>
        </p:txBody>
      </p:sp>
      <p:sp>
        <p:nvSpPr>
          <p:cNvPr id="5" name="Shape 2"/>
          <p:cNvSpPr/>
          <p:nvPr/>
        </p:nvSpPr>
        <p:spPr>
          <a:xfrm>
            <a:off x="777240" y="1874520"/>
            <a:ext cx="3410712" cy="4023360"/>
          </a:xfrm>
          <a:prstGeom prst="roundRect">
            <a:avLst>
              <a:gd name="adj" fmla="val 3217"/>
            </a:avLst>
          </a:prstGeom>
          <a:solidFill>
            <a:srgbClr val="A51C30"/>
          </a:solidFill>
          <a:ln w="9525">
            <a:solidFill>
              <a:srgbClr val="A51C30"/>
            </a:solidFill>
            <a:prstDash val="solid"/>
          </a:ln>
        </p:spPr>
        <p:txBody>
          <a:bodyPr/>
          <a:lstStyle/>
          <a:p>
            <a:endParaRPr lang="en-US"/>
          </a:p>
        </p:txBody>
      </p:sp>
      <p:sp>
        <p:nvSpPr>
          <p:cNvPr id="6" name="Shape 3"/>
          <p:cNvSpPr/>
          <p:nvPr/>
        </p:nvSpPr>
        <p:spPr>
          <a:xfrm>
            <a:off x="777240" y="1938528"/>
            <a:ext cx="3410712" cy="3959352"/>
          </a:xfrm>
          <a:prstGeom prst="roundRect">
            <a:avLst>
              <a:gd name="adj" fmla="val 3217"/>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51560" y="2194560"/>
            <a:ext cx="2862072" cy="822960"/>
          </a:xfrm>
          <a:prstGeom prst="rect">
            <a:avLst/>
          </a:prstGeom>
          <a:noFill/>
          <a:ln/>
        </p:spPr>
        <p:txBody>
          <a:bodyPr wrap="square" lIns="0" tIns="0" rIns="0" bIns="0" rtlCol="0" anchor="t"/>
          <a:lstStyle/>
          <a:p>
            <a:pPr marL="0" indent="0">
              <a:buNone/>
            </a:pPr>
            <a:r>
              <a:rPr lang="en-US" sz="2400" b="1" dirty="0">
                <a:solidFill>
                  <a:srgbClr val="2A1E21"/>
                </a:solidFill>
                <a:latin typeface="Calibri" pitchFamily="34" charset="0"/>
                <a:ea typeface="Calibri" pitchFamily="34" charset="-122"/>
                <a:cs typeface="Calibri" pitchFamily="34" charset="-120"/>
              </a:rPr>
              <a:t>Typed in the chat</a:t>
            </a:r>
            <a:endParaRPr lang="en-US" sz="2400" dirty="0"/>
          </a:p>
        </p:txBody>
      </p:sp>
      <p:sp>
        <p:nvSpPr>
          <p:cNvPr id="8" name="Text 5"/>
          <p:cNvSpPr txBox="1"/>
          <p:nvPr/>
        </p:nvSpPr>
        <p:spPr>
          <a:xfrm>
            <a:off x="1051560" y="3063240"/>
            <a:ext cx="2862072" cy="173736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Predicted, not computed. No code to inspect.</a:t>
            </a:r>
            <a:endParaRPr lang="en-US" sz="2000" dirty="0"/>
          </a:p>
        </p:txBody>
      </p:sp>
      <p:sp>
        <p:nvSpPr>
          <p:cNvPr id="9" name="Text 6"/>
          <p:cNvSpPr txBox="1"/>
          <p:nvPr/>
        </p:nvSpPr>
        <p:spPr>
          <a:xfrm>
            <a:off x="1051560" y="4937760"/>
            <a:ext cx="2862072" cy="731520"/>
          </a:xfrm>
          <a:prstGeom prst="rect">
            <a:avLst/>
          </a:prstGeom>
          <a:noFill/>
          <a:ln/>
        </p:spPr>
        <p:txBody>
          <a:bodyPr wrap="square" lIns="0" tIns="0" rIns="0" bIns="0" rtlCol="0" anchor="t"/>
          <a:lstStyle/>
          <a:p>
            <a:pPr marL="0" indent="0">
              <a:buNone/>
            </a:pPr>
            <a:r>
              <a:rPr lang="en-US" sz="2000" b="1" dirty="0">
                <a:solidFill>
                  <a:srgbClr val="A51C30"/>
                </a:solidFill>
                <a:latin typeface="Calibri" pitchFamily="34" charset="0"/>
                <a:ea typeface="Calibri" pitchFamily="34" charset="-122"/>
                <a:cs typeface="Calibri" pitchFamily="34" charset="-120"/>
              </a:rPr>
              <a:t>Low trust. Never report.</a:t>
            </a:r>
            <a:endParaRPr lang="en-US" sz="2000" dirty="0"/>
          </a:p>
        </p:txBody>
      </p:sp>
      <p:sp>
        <p:nvSpPr>
          <p:cNvPr id="10" name="Shape 7"/>
          <p:cNvSpPr/>
          <p:nvPr/>
        </p:nvSpPr>
        <p:spPr>
          <a:xfrm>
            <a:off x="4370832" y="1874520"/>
            <a:ext cx="3410712" cy="4023360"/>
          </a:xfrm>
          <a:prstGeom prst="roundRect">
            <a:avLst>
              <a:gd name="adj" fmla="val 3217"/>
            </a:avLst>
          </a:prstGeom>
          <a:solidFill>
            <a:srgbClr val="9A8A8E"/>
          </a:solidFill>
          <a:ln w="9525">
            <a:solidFill>
              <a:srgbClr val="9A8A8E"/>
            </a:solidFill>
            <a:prstDash val="solid"/>
          </a:ln>
        </p:spPr>
        <p:txBody>
          <a:bodyPr/>
          <a:lstStyle/>
          <a:p>
            <a:endParaRPr lang="en-US"/>
          </a:p>
        </p:txBody>
      </p:sp>
      <p:sp>
        <p:nvSpPr>
          <p:cNvPr id="11" name="Shape 8"/>
          <p:cNvSpPr/>
          <p:nvPr/>
        </p:nvSpPr>
        <p:spPr>
          <a:xfrm>
            <a:off x="4370832" y="1938528"/>
            <a:ext cx="3410712" cy="3959352"/>
          </a:xfrm>
          <a:prstGeom prst="roundRect">
            <a:avLst>
              <a:gd name="adj" fmla="val 3217"/>
            </a:avLst>
          </a:prstGeom>
          <a:solidFill>
            <a:srgbClr val="FFFFFF"/>
          </a:solidFill>
          <a:ln w="9525">
            <a:solidFill>
              <a:srgbClr val="E8D3D7"/>
            </a:solidFill>
            <a:prstDash val="solid"/>
          </a:ln>
        </p:spPr>
        <p:txBody>
          <a:bodyPr/>
          <a:lstStyle/>
          <a:p>
            <a:endParaRPr lang="en-US"/>
          </a:p>
        </p:txBody>
      </p:sp>
      <p:sp>
        <p:nvSpPr>
          <p:cNvPr id="12" name="Text 9"/>
          <p:cNvSpPr txBox="1"/>
          <p:nvPr/>
        </p:nvSpPr>
        <p:spPr>
          <a:xfrm>
            <a:off x="4645152" y="2194560"/>
            <a:ext cx="2862072" cy="822960"/>
          </a:xfrm>
          <a:prstGeom prst="rect">
            <a:avLst/>
          </a:prstGeom>
          <a:noFill/>
          <a:ln/>
        </p:spPr>
        <p:txBody>
          <a:bodyPr wrap="square" lIns="0" tIns="0" rIns="0" bIns="0" rtlCol="0" anchor="t"/>
          <a:lstStyle/>
          <a:p>
            <a:pPr marL="0" indent="0">
              <a:buNone/>
            </a:pPr>
            <a:r>
              <a:rPr lang="en-US" sz="2400" b="1" dirty="0">
                <a:solidFill>
                  <a:srgbClr val="2A1E21"/>
                </a:solidFill>
                <a:latin typeface="Calibri" pitchFamily="34" charset="0"/>
                <a:ea typeface="Calibri" pitchFamily="34" charset="-122"/>
                <a:cs typeface="Calibri" pitchFamily="34" charset="-120"/>
              </a:rPr>
              <a:t>Chat runs code for you</a:t>
            </a:r>
            <a:endParaRPr lang="en-US" sz="2400" dirty="0"/>
          </a:p>
        </p:txBody>
      </p:sp>
      <p:sp>
        <p:nvSpPr>
          <p:cNvPr id="13" name="Text 10"/>
          <p:cNvSpPr txBox="1"/>
          <p:nvPr/>
        </p:nvSpPr>
        <p:spPr>
          <a:xfrm>
            <a:off x="4645152" y="3063240"/>
            <a:ext cx="2862072" cy="173736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Computed, but usually in Python even if you asked for R, in a session you can't rerun later.</a:t>
            </a:r>
            <a:endParaRPr lang="en-US" sz="2000" dirty="0"/>
          </a:p>
        </p:txBody>
      </p:sp>
      <p:sp>
        <p:nvSpPr>
          <p:cNvPr id="14" name="Text 11"/>
          <p:cNvSpPr txBox="1"/>
          <p:nvPr/>
        </p:nvSpPr>
        <p:spPr>
          <a:xfrm>
            <a:off x="4645152" y="4937760"/>
            <a:ext cx="2862072" cy="731520"/>
          </a:xfrm>
          <a:prstGeom prst="rect">
            <a:avLst/>
          </a:prstGeom>
          <a:noFill/>
          <a:ln/>
        </p:spPr>
        <p:txBody>
          <a:bodyPr wrap="square" lIns="0" tIns="0" rIns="0" bIns="0" rtlCol="0" anchor="t"/>
          <a:lstStyle/>
          <a:p>
            <a:pPr marL="0" indent="0">
              <a:buNone/>
            </a:pPr>
            <a:r>
              <a:rPr lang="en-US" sz="2000" b="1" dirty="0">
                <a:solidFill>
                  <a:srgbClr val="5F5256"/>
                </a:solidFill>
                <a:latin typeface="Calibri" pitchFamily="34" charset="0"/>
                <a:ea typeface="Calibri" pitchFamily="34" charset="-122"/>
                <a:cs typeface="Calibri" pitchFamily="34" charset="-120"/>
              </a:rPr>
              <a:t>Medium trust. Good for exploring.</a:t>
            </a:r>
            <a:endParaRPr lang="en-US" sz="2000" dirty="0"/>
          </a:p>
        </p:txBody>
      </p:sp>
      <p:sp>
        <p:nvSpPr>
          <p:cNvPr id="15" name="Shape 12"/>
          <p:cNvSpPr/>
          <p:nvPr/>
        </p:nvSpPr>
        <p:spPr>
          <a:xfrm>
            <a:off x="7964424" y="1874520"/>
            <a:ext cx="3410712" cy="4023360"/>
          </a:xfrm>
          <a:prstGeom prst="roundRect">
            <a:avLst>
              <a:gd name="adj" fmla="val 3217"/>
            </a:avLst>
          </a:prstGeom>
          <a:solidFill>
            <a:srgbClr val="4A6272"/>
          </a:solidFill>
          <a:ln w="9525">
            <a:solidFill>
              <a:srgbClr val="4A6272"/>
            </a:solidFill>
            <a:prstDash val="solid"/>
          </a:ln>
        </p:spPr>
        <p:txBody>
          <a:bodyPr/>
          <a:lstStyle/>
          <a:p>
            <a:endParaRPr lang="en-US"/>
          </a:p>
        </p:txBody>
      </p:sp>
      <p:sp>
        <p:nvSpPr>
          <p:cNvPr id="16" name="Shape 13"/>
          <p:cNvSpPr/>
          <p:nvPr/>
        </p:nvSpPr>
        <p:spPr>
          <a:xfrm>
            <a:off x="7964424" y="1938528"/>
            <a:ext cx="3410712" cy="3959352"/>
          </a:xfrm>
          <a:prstGeom prst="roundRect">
            <a:avLst>
              <a:gd name="adj" fmla="val 3217"/>
            </a:avLst>
          </a:prstGeom>
          <a:solidFill>
            <a:srgbClr val="FFFFFF"/>
          </a:solidFill>
          <a:ln w="9525">
            <a:solidFill>
              <a:srgbClr val="E8D3D7"/>
            </a:solidFill>
            <a:prstDash val="solid"/>
          </a:ln>
        </p:spPr>
        <p:txBody>
          <a:bodyPr/>
          <a:lstStyle/>
          <a:p>
            <a:endParaRPr lang="en-US"/>
          </a:p>
        </p:txBody>
      </p:sp>
      <p:sp>
        <p:nvSpPr>
          <p:cNvPr id="17" name="Text 14"/>
          <p:cNvSpPr txBox="1"/>
          <p:nvPr/>
        </p:nvSpPr>
        <p:spPr>
          <a:xfrm>
            <a:off x="8238744" y="2194560"/>
            <a:ext cx="2862072" cy="822960"/>
          </a:xfrm>
          <a:prstGeom prst="rect">
            <a:avLst/>
          </a:prstGeom>
          <a:noFill/>
          <a:ln/>
        </p:spPr>
        <p:txBody>
          <a:bodyPr wrap="square" lIns="0" tIns="0" rIns="0" bIns="0" rtlCol="0" anchor="t"/>
          <a:lstStyle/>
          <a:p>
            <a:pPr marL="0" indent="0">
              <a:buNone/>
            </a:pPr>
            <a:r>
              <a:rPr lang="en-US" sz="2400" b="1" dirty="0">
                <a:solidFill>
                  <a:srgbClr val="2A1E21"/>
                </a:solidFill>
                <a:latin typeface="Calibri" pitchFamily="34" charset="0"/>
                <a:ea typeface="Calibri" pitchFamily="34" charset="-122"/>
                <a:cs typeface="Calibri" pitchFamily="34" charset="-120"/>
              </a:rPr>
              <a:t>You run the code in R</a:t>
            </a:r>
            <a:endParaRPr lang="en-US" sz="2400" dirty="0"/>
          </a:p>
        </p:txBody>
      </p:sp>
      <p:sp>
        <p:nvSpPr>
          <p:cNvPr id="18" name="Text 15"/>
          <p:cNvSpPr txBox="1"/>
          <p:nvPr/>
        </p:nvSpPr>
        <p:spPr>
          <a:xfrm>
            <a:off x="8238744" y="3063240"/>
            <a:ext cx="2862072" cy="173736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Computed, visible, saved in an .Rmd you can rerun, share, and defend.</a:t>
            </a:r>
            <a:endParaRPr lang="en-US" sz="2000" dirty="0"/>
          </a:p>
        </p:txBody>
      </p:sp>
      <p:sp>
        <p:nvSpPr>
          <p:cNvPr id="19" name="Text 16"/>
          <p:cNvSpPr txBox="1"/>
          <p:nvPr/>
        </p:nvSpPr>
        <p:spPr>
          <a:xfrm>
            <a:off x="8238744" y="4937760"/>
            <a:ext cx="2862072" cy="731520"/>
          </a:xfrm>
          <a:prstGeom prst="rect">
            <a:avLst/>
          </a:prstGeom>
          <a:noFill/>
          <a:ln/>
        </p:spPr>
        <p:txBody>
          <a:bodyPr wrap="square" lIns="0" tIns="0" rIns="0" bIns="0" rtlCol="0" anchor="t"/>
          <a:lstStyle/>
          <a:p>
            <a:pPr marL="0" indent="0">
              <a:buNone/>
            </a:pPr>
            <a:r>
              <a:rPr lang="en-US" sz="2000" b="1" dirty="0">
                <a:solidFill>
                  <a:srgbClr val="4A6272"/>
                </a:solidFill>
                <a:latin typeface="Calibri" pitchFamily="34" charset="0"/>
                <a:ea typeface="Calibri" pitchFamily="34" charset="-122"/>
                <a:cs typeface="Calibri" pitchFamily="34" charset="-120"/>
              </a:rPr>
              <a:t>What goes in your paper.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THREE TYPICAL ERRORS IN R</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The most dangerous one throws no error</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831399120"/>
              </p:ext>
            </p:extLst>
          </p:nvPr>
        </p:nvGraphicFramePr>
        <p:xfrm>
          <a:off x="777240" y="1874520"/>
          <a:ext cx="10634472" cy="3901440"/>
        </p:xfrm>
        <a:graphic>
          <a:graphicData uri="http://schemas.openxmlformats.org/drawingml/2006/table">
            <a:tbl>
              <a:tblPr/>
              <a:tblGrid>
                <a:gridCol w="194564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2519680">
                  <a:extLst>
                    <a:ext uri="{9D8B030D-6E8A-4147-A177-3AD203B41FA5}">
                      <a16:colId xmlns:a16="http://schemas.microsoft.com/office/drawing/2014/main" val="20002"/>
                    </a:ext>
                  </a:extLst>
                </a:gridCol>
                <a:gridCol w="2389632">
                  <a:extLst>
                    <a:ext uri="{9D8B030D-6E8A-4147-A177-3AD203B41FA5}">
                      <a16:colId xmlns:a16="http://schemas.microsoft.com/office/drawing/2014/main" val="20003"/>
                    </a:ext>
                  </a:extLst>
                </a:gridCol>
              </a:tblGrid>
              <a:tr h="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Error</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Example</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How you'd notice</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The fix</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extLst>
                  <a:ext uri="{0D108BD9-81ED-4DB2-BD59-A6C34878D82A}">
                    <a16:rowId xmlns:a16="http://schemas.microsoft.com/office/drawing/2014/main" val="10000"/>
                  </a:ext>
                </a:extLst>
              </a:tr>
              <a:tr h="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Invented function</a:t>
                      </a:r>
                      <a:r>
                        <a:rPr lang="en-US" sz="1800" dirty="0">
                          <a:solidFill>
                            <a:srgbClr val="2A1E21"/>
                          </a:solidFill>
                          <a:latin typeface="Calibri" pitchFamily="34" charset="0"/>
                          <a:ea typeface="Calibri" pitchFamily="34" charset="-122"/>
                          <a:cs typeface="Calibri" pitchFamily="34" charset="-120"/>
                        </a:rPr>
                        <a:t> (the function doesn't exist)</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A51C30"/>
                          </a:solidFill>
                          <a:latin typeface="Courier New" pitchFamily="34" charset="0"/>
                          <a:ea typeface="Courier New" pitchFamily="34" charset="-122"/>
                          <a:cs typeface="Courier New" pitchFamily="34" charset="-120"/>
                        </a:rPr>
                        <a:t>standardize(age)</a:t>
                      </a:r>
                      <a:r>
                        <a:rPr lang="en-US" sz="1800" dirty="0">
                          <a:solidFill>
                            <a:srgbClr val="2A1E21"/>
                          </a:solidFill>
                          <a:latin typeface="Calibri" pitchFamily="34" charset="0"/>
                          <a:ea typeface="Calibri" pitchFamily="34" charset="-122"/>
                          <a:cs typeface="Calibri" pitchFamily="34" charset="-120"/>
                        </a:rPr>
                        <a:t>: not an actual function and not in the tidyverse</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Error when you run the code: "could not find function." Typing </a:t>
                      </a:r>
                      <a:r>
                        <a:rPr lang="en-US" sz="1800" dirty="0">
                          <a:solidFill>
                            <a:srgbClr val="2A1E21"/>
                          </a:solidFill>
                          <a:latin typeface="Courier New" pitchFamily="34" charset="0"/>
                          <a:ea typeface="Courier New" pitchFamily="34" charset="-122"/>
                          <a:cs typeface="Courier New" pitchFamily="34" charset="-120"/>
                        </a:rPr>
                        <a:t>?standardize</a:t>
                      </a:r>
                      <a:r>
                        <a:rPr lang="en-US" sz="1800" dirty="0">
                          <a:solidFill>
                            <a:srgbClr val="2A1E21"/>
                          </a:solidFill>
                          <a:latin typeface="Calibri" pitchFamily="34" charset="0"/>
                          <a:ea typeface="Calibri" pitchFamily="34" charset="-122"/>
                          <a:cs typeface="Calibri" pitchFamily="34" charset="-120"/>
                        </a:rPr>
                        <a:t> finds nothing.</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Tell the LLM the function does not exist.</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Outdated or obsolete syntax</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A51C30"/>
                          </a:solidFill>
                          <a:latin typeface="Courier New" pitchFamily="34" charset="0"/>
                          <a:ea typeface="Courier New" pitchFamily="34" charset="-122"/>
                          <a:cs typeface="Courier New" pitchFamily="34" charset="-120"/>
                        </a:rPr>
                        <a:t>summarize_each(funs(mean))</a:t>
                      </a:r>
                      <a:endParaRPr lang="en-US" sz="1800" dirty="0">
                        <a:latin typeface="Courier New" charset="0"/>
                        <a:ea typeface="Courier New" charset="0"/>
                        <a:cs typeface="Courier New"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A deprecation warning in the console.</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Ask the LLM for the current, non-deprecated version.</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Bad statistical advice</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t-test on skewed data; chi-square with small expected counts; no multiple-testing correction</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b="1" dirty="0">
                          <a:solidFill>
                            <a:srgbClr val="A51C30"/>
                          </a:solidFill>
                          <a:latin typeface="Calibri" pitchFamily="34" charset="0"/>
                          <a:ea typeface="Calibri" pitchFamily="34" charset="-122"/>
                          <a:cs typeface="Calibri" pitchFamily="34" charset="-120"/>
                        </a:rPr>
                        <a:t>Nothing. The code runs. Only your training catches it.</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Check with a human expert if you aren't sure.</a:t>
                      </a:r>
                      <a:endParaRPr lang="en-US" sz="1800" dirty="0">
                        <a:latin typeface="Calibri" charset="0"/>
                        <a:ea typeface="Calibri" charset="0"/>
                        <a:cs typeface="Calibri" charset="0"/>
                      </a:endParaRPr>
                    </a:p>
                  </a:txBody>
                  <a:tcPr marL="101600" marR="101600" marT="76200" marB="76200">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777240" y="6172200"/>
            <a:ext cx="10637215" cy="365760"/>
          </a:xfrm>
          <a:prstGeom prst="rect">
            <a:avLst/>
          </a:prstGeom>
          <a:noFill/>
          <a:ln/>
        </p:spPr>
        <p:txBody>
          <a:bodyPr wrap="square" lIns="0" tIns="0" rIns="0" bIns="0" rtlCol="0" anchor="t"/>
          <a:lstStyle/>
          <a:p>
            <a:pPr marL="0" indent="0">
              <a:buNone/>
            </a:pPr>
            <a:r>
              <a:rPr lang="en-US" sz="1100" dirty="0">
                <a:solidFill>
                  <a:srgbClr val="7A6C70"/>
                </a:solidFill>
                <a:latin typeface="Calibri" pitchFamily="34" charset="0"/>
                <a:ea typeface="Calibri" pitchFamily="34" charset="-122"/>
                <a:cs typeface="Calibri" pitchFamily="34" charset="-120"/>
              </a:rPr>
              <a:t>Adapted from Della Vedova C. Four best practices for using ChatGPT/Claude as an effective R assistant. Bull Dial Domic. 2026;9(2). doi:10.25796/bdd.v9i2.87112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ECEE"/>
        </a:solidFill>
        <a:effectLst/>
      </p:bgPr>
    </p:bg>
    <p:spTree>
      <p:nvGrpSpPr>
        <p:cNvPr id="1" name=""/>
        <p:cNvGrpSpPr/>
        <p:nvPr/>
      </p:nvGrpSpPr>
      <p:grpSpPr>
        <a:xfrm>
          <a:off x="0" y="0"/>
          <a:ext cx="0" cy="0"/>
          <a:chOff x="0" y="0"/>
          <a:chExt cx="0" cy="0"/>
        </a:xfrm>
      </p:grpSpPr>
      <p:sp>
        <p:nvSpPr>
          <p:cNvPr id="3" name="Shape 0"/>
          <p:cNvSpPr/>
          <p:nvPr/>
        </p:nvSpPr>
        <p:spPr>
          <a:xfrm>
            <a:off x="0" y="0"/>
            <a:ext cx="155448" cy="6858000"/>
          </a:xfrm>
          <a:prstGeom prst="rect">
            <a:avLst/>
          </a:prstGeom>
          <a:solidFill>
            <a:srgbClr val="A51C30"/>
          </a:solidFill>
          <a:ln w="12700">
            <a:solidFill>
              <a:srgbClr val="A51C30"/>
            </a:solidFill>
            <a:prstDash val="solid"/>
          </a:ln>
        </p:spPr>
        <p:txBody>
          <a:bodyPr/>
          <a:lstStyle/>
          <a:p>
            <a:endParaRPr lang="en-US"/>
          </a:p>
        </p:txBody>
      </p:sp>
      <p:sp>
        <p:nvSpPr>
          <p:cNvPr id="4" name="Text 1"/>
          <p:cNvSpPr txBox="1"/>
          <p:nvPr/>
        </p:nvSpPr>
        <p:spPr>
          <a:xfrm>
            <a:off x="1097280" y="2011680"/>
            <a:ext cx="10058400" cy="320040"/>
          </a:xfrm>
          <a:prstGeom prst="rect">
            <a:avLst/>
          </a:prstGeom>
          <a:noFill/>
          <a:ln/>
        </p:spPr>
        <p:txBody>
          <a:bodyPr wrap="square" lIns="0" tIns="0" rIns="0" bIns="0" rtlCol="0" anchor="t"/>
          <a:lstStyle/>
          <a:p>
            <a:pPr marL="0" indent="0">
              <a:buNone/>
            </a:pPr>
            <a:r>
              <a:rPr lang="en-US" sz="1400" b="1" kern="0" spc="300" dirty="0">
                <a:solidFill>
                  <a:srgbClr val="A51C30"/>
                </a:solidFill>
                <a:latin typeface="Calibri" pitchFamily="34" charset="0"/>
                <a:ea typeface="Calibri" pitchFamily="34" charset="-122"/>
                <a:cs typeface="Calibri" pitchFamily="34" charset="-120"/>
              </a:rPr>
              <a:t>PART 2</a:t>
            </a:r>
            <a:endParaRPr lang="en-US" sz="1400" dirty="0"/>
          </a:p>
        </p:txBody>
      </p:sp>
      <p:sp>
        <p:nvSpPr>
          <p:cNvPr id="5" name="Text 2"/>
          <p:cNvSpPr txBox="1"/>
          <p:nvPr/>
        </p:nvSpPr>
        <p:spPr>
          <a:xfrm>
            <a:off x="1097280" y="2423160"/>
            <a:ext cx="10332720" cy="1828800"/>
          </a:xfrm>
          <a:prstGeom prst="rect">
            <a:avLst/>
          </a:prstGeom>
          <a:noFill/>
          <a:ln/>
        </p:spPr>
        <p:txBody>
          <a:bodyPr wrap="square" lIns="0" tIns="0" rIns="0" bIns="0" rtlCol="0" anchor="t"/>
          <a:lstStyle/>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A framework for coding</a:t>
            </a:r>
            <a:endParaRPr lang="en-US" sz="5200" dirty="0"/>
          </a:p>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with an LLM</a:t>
            </a:r>
            <a:endParaRPr lang="en-US" sz="5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THE FRAMEWORK</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Plan · Protect · Prompt · Run · Verify · Own</a:t>
            </a:r>
            <a:endParaRPr lang="en-US" sz="3200" dirty="0"/>
          </a:p>
        </p:txBody>
      </p:sp>
      <p:sp>
        <p:nvSpPr>
          <p:cNvPr id="5" name="Shape 2"/>
          <p:cNvSpPr/>
          <p:nvPr/>
        </p:nvSpPr>
        <p:spPr>
          <a:xfrm>
            <a:off x="777240" y="1874520"/>
            <a:ext cx="3410712" cy="1965960"/>
          </a:xfrm>
          <a:prstGeom prst="roundRect">
            <a:avLst>
              <a:gd name="adj" fmla="val 5581"/>
            </a:avLst>
          </a:prstGeom>
          <a:solidFill>
            <a:srgbClr val="FFFFFF"/>
          </a:solidFill>
          <a:ln w="9525">
            <a:solidFill>
              <a:srgbClr val="E8D3D7"/>
            </a:solidFill>
            <a:prstDash val="solid"/>
          </a:ln>
        </p:spPr>
        <p:txBody>
          <a:bodyPr/>
          <a:lstStyle/>
          <a:p>
            <a:endParaRPr lang="en-US"/>
          </a:p>
        </p:txBody>
      </p:sp>
      <p:sp>
        <p:nvSpPr>
          <p:cNvPr id="6" name="Text 3"/>
          <p:cNvSpPr txBox="1"/>
          <p:nvPr/>
        </p:nvSpPr>
        <p:spPr>
          <a:xfrm>
            <a:off x="1051560" y="2130552"/>
            <a:ext cx="2862072"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1 · Plan</a:t>
            </a:r>
            <a:endParaRPr lang="en-US" sz="2400" dirty="0"/>
          </a:p>
        </p:txBody>
      </p:sp>
      <p:sp>
        <p:nvSpPr>
          <p:cNvPr id="7" name="Text 4"/>
          <p:cNvSpPr txBox="1"/>
          <p:nvPr/>
        </p:nvSpPr>
        <p:spPr>
          <a:xfrm>
            <a:off x="1051560" y="2606040"/>
            <a:ext cx="2862072" cy="109728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Know the question, outcome, exposure, covariates, and why this model, before you ask.</a:t>
            </a:r>
            <a:endParaRPr lang="en-US" dirty="0"/>
          </a:p>
        </p:txBody>
      </p:sp>
      <p:sp>
        <p:nvSpPr>
          <p:cNvPr id="8" name="Shape 5"/>
          <p:cNvSpPr/>
          <p:nvPr/>
        </p:nvSpPr>
        <p:spPr>
          <a:xfrm>
            <a:off x="4370832" y="1874520"/>
            <a:ext cx="3410712" cy="1965960"/>
          </a:xfrm>
          <a:prstGeom prst="roundRect">
            <a:avLst>
              <a:gd name="adj" fmla="val 5581"/>
            </a:avLst>
          </a:prstGeom>
          <a:solidFill>
            <a:srgbClr val="FFFFFF"/>
          </a:solidFill>
          <a:ln w="9525">
            <a:solidFill>
              <a:srgbClr val="E8D3D7"/>
            </a:solidFill>
            <a:prstDash val="solid"/>
          </a:ln>
        </p:spPr>
        <p:txBody>
          <a:bodyPr/>
          <a:lstStyle/>
          <a:p>
            <a:endParaRPr lang="en-US"/>
          </a:p>
        </p:txBody>
      </p:sp>
      <p:sp>
        <p:nvSpPr>
          <p:cNvPr id="9" name="Text 6"/>
          <p:cNvSpPr txBox="1"/>
          <p:nvPr/>
        </p:nvSpPr>
        <p:spPr>
          <a:xfrm>
            <a:off x="4645152" y="2130552"/>
            <a:ext cx="2862072"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2 · Protect</a:t>
            </a:r>
            <a:endParaRPr lang="en-US" sz="2400" dirty="0"/>
          </a:p>
        </p:txBody>
      </p:sp>
      <p:sp>
        <p:nvSpPr>
          <p:cNvPr id="10" name="Text 7"/>
          <p:cNvSpPr txBox="1"/>
          <p:nvPr/>
        </p:nvSpPr>
        <p:spPr>
          <a:xfrm>
            <a:off x="4645152" y="2606040"/>
            <a:ext cx="2862072" cy="109728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Classify the data. Check your DUA and IRB. Unsure? Don't upload.</a:t>
            </a:r>
            <a:endParaRPr lang="en-US" dirty="0"/>
          </a:p>
        </p:txBody>
      </p:sp>
      <p:sp>
        <p:nvSpPr>
          <p:cNvPr id="11" name="Shape 8"/>
          <p:cNvSpPr/>
          <p:nvPr/>
        </p:nvSpPr>
        <p:spPr>
          <a:xfrm>
            <a:off x="7964424" y="1874520"/>
            <a:ext cx="3410712" cy="1965960"/>
          </a:xfrm>
          <a:prstGeom prst="roundRect">
            <a:avLst>
              <a:gd name="adj" fmla="val 5581"/>
            </a:avLst>
          </a:prstGeom>
          <a:solidFill>
            <a:srgbClr val="FFFFFF"/>
          </a:solidFill>
          <a:ln w="9525">
            <a:solidFill>
              <a:srgbClr val="E8D3D7"/>
            </a:solidFill>
            <a:prstDash val="solid"/>
          </a:ln>
        </p:spPr>
        <p:txBody>
          <a:bodyPr/>
          <a:lstStyle/>
          <a:p>
            <a:endParaRPr lang="en-US"/>
          </a:p>
        </p:txBody>
      </p:sp>
      <p:sp>
        <p:nvSpPr>
          <p:cNvPr id="12" name="Text 9"/>
          <p:cNvSpPr txBox="1"/>
          <p:nvPr/>
        </p:nvSpPr>
        <p:spPr>
          <a:xfrm>
            <a:off x="8238744" y="2130552"/>
            <a:ext cx="2862072"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3 · Prompt</a:t>
            </a:r>
            <a:endParaRPr lang="en-US" sz="2400" dirty="0"/>
          </a:p>
        </p:txBody>
      </p:sp>
      <p:sp>
        <p:nvSpPr>
          <p:cNvPr id="13" name="Text 10"/>
          <p:cNvSpPr txBox="1"/>
          <p:nvPr/>
        </p:nvSpPr>
        <p:spPr>
          <a:xfrm>
            <a:off x="8238744" y="2606040"/>
            <a:ext cx="2862072" cy="109728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Context + objective + expected format. Structure, not records.</a:t>
            </a:r>
            <a:endParaRPr lang="en-US" dirty="0"/>
          </a:p>
        </p:txBody>
      </p:sp>
      <p:sp>
        <p:nvSpPr>
          <p:cNvPr id="14" name="Shape 11"/>
          <p:cNvSpPr/>
          <p:nvPr/>
        </p:nvSpPr>
        <p:spPr>
          <a:xfrm>
            <a:off x="777240" y="4023360"/>
            <a:ext cx="3410712" cy="1965960"/>
          </a:xfrm>
          <a:prstGeom prst="roundRect">
            <a:avLst>
              <a:gd name="adj" fmla="val 5581"/>
            </a:avLst>
          </a:prstGeom>
          <a:solidFill>
            <a:srgbClr val="FFFFFF"/>
          </a:solidFill>
          <a:ln w="9525">
            <a:solidFill>
              <a:srgbClr val="E8D3D7"/>
            </a:solidFill>
            <a:prstDash val="solid"/>
          </a:ln>
        </p:spPr>
        <p:txBody>
          <a:bodyPr/>
          <a:lstStyle/>
          <a:p>
            <a:endParaRPr lang="en-US"/>
          </a:p>
        </p:txBody>
      </p:sp>
      <p:sp>
        <p:nvSpPr>
          <p:cNvPr id="15" name="Text 12"/>
          <p:cNvSpPr txBox="1"/>
          <p:nvPr/>
        </p:nvSpPr>
        <p:spPr>
          <a:xfrm>
            <a:off x="1051560" y="4279392"/>
            <a:ext cx="2862072"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4 · Run</a:t>
            </a:r>
            <a:endParaRPr lang="en-US" sz="2400" dirty="0"/>
          </a:p>
        </p:txBody>
      </p:sp>
      <p:sp>
        <p:nvSpPr>
          <p:cNvPr id="16" name="Text 13"/>
          <p:cNvSpPr txBox="1"/>
          <p:nvPr/>
        </p:nvSpPr>
        <p:spPr>
          <a:xfrm>
            <a:off x="1051560" y="4754880"/>
            <a:ext cx="2862072" cy="109728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Run it yourself, in R, in an .Rmd. Read every message and warning.</a:t>
            </a:r>
            <a:endParaRPr lang="en-US" dirty="0"/>
          </a:p>
        </p:txBody>
      </p:sp>
      <p:sp>
        <p:nvSpPr>
          <p:cNvPr id="17" name="Shape 14"/>
          <p:cNvSpPr/>
          <p:nvPr/>
        </p:nvSpPr>
        <p:spPr>
          <a:xfrm>
            <a:off x="4370832" y="4023360"/>
            <a:ext cx="3410712" cy="1965960"/>
          </a:xfrm>
          <a:prstGeom prst="roundRect">
            <a:avLst>
              <a:gd name="adj" fmla="val 5581"/>
            </a:avLst>
          </a:prstGeom>
          <a:solidFill>
            <a:srgbClr val="FFFFFF"/>
          </a:solidFill>
          <a:ln w="9525">
            <a:solidFill>
              <a:srgbClr val="E8D3D7"/>
            </a:solidFill>
            <a:prstDash val="solid"/>
          </a:ln>
        </p:spPr>
        <p:txBody>
          <a:bodyPr/>
          <a:lstStyle/>
          <a:p>
            <a:endParaRPr lang="en-US"/>
          </a:p>
        </p:txBody>
      </p:sp>
      <p:sp>
        <p:nvSpPr>
          <p:cNvPr id="18" name="Text 15"/>
          <p:cNvSpPr txBox="1"/>
          <p:nvPr/>
        </p:nvSpPr>
        <p:spPr>
          <a:xfrm>
            <a:off x="4645152" y="4279392"/>
            <a:ext cx="2862072"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5 · Verify</a:t>
            </a:r>
            <a:endParaRPr lang="en-US" sz="2400" dirty="0"/>
          </a:p>
        </p:txBody>
      </p:sp>
      <p:sp>
        <p:nvSpPr>
          <p:cNvPr id="19" name="Text 16"/>
          <p:cNvSpPr txBox="1"/>
          <p:nvPr/>
        </p:nvSpPr>
        <p:spPr>
          <a:xfrm>
            <a:off x="4645152" y="4754880"/>
            <a:ext cx="2862072" cy="109728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No errors? Right n and types? Plausible values? Right answer on a tiny test? Right model?</a:t>
            </a:r>
            <a:endParaRPr lang="en-US" dirty="0"/>
          </a:p>
        </p:txBody>
      </p:sp>
      <p:sp>
        <p:nvSpPr>
          <p:cNvPr id="20" name="Shape 17"/>
          <p:cNvSpPr/>
          <p:nvPr/>
        </p:nvSpPr>
        <p:spPr>
          <a:xfrm>
            <a:off x="7964424" y="4023360"/>
            <a:ext cx="3410712" cy="1965960"/>
          </a:xfrm>
          <a:prstGeom prst="roundRect">
            <a:avLst>
              <a:gd name="adj" fmla="val 5581"/>
            </a:avLst>
          </a:prstGeom>
          <a:solidFill>
            <a:srgbClr val="FFFFFF"/>
          </a:solidFill>
          <a:ln w="9525">
            <a:solidFill>
              <a:srgbClr val="E8D3D7"/>
            </a:solidFill>
            <a:prstDash val="solid"/>
          </a:ln>
        </p:spPr>
        <p:txBody>
          <a:bodyPr/>
          <a:lstStyle/>
          <a:p>
            <a:endParaRPr lang="en-US"/>
          </a:p>
        </p:txBody>
      </p:sp>
      <p:sp>
        <p:nvSpPr>
          <p:cNvPr id="21" name="Text 18"/>
          <p:cNvSpPr txBox="1"/>
          <p:nvPr/>
        </p:nvSpPr>
        <p:spPr>
          <a:xfrm>
            <a:off x="8238744" y="4279392"/>
            <a:ext cx="2862072"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6 · Own</a:t>
            </a:r>
            <a:endParaRPr lang="en-US" sz="2400" dirty="0"/>
          </a:p>
        </p:txBody>
      </p:sp>
      <p:sp>
        <p:nvSpPr>
          <p:cNvPr id="22" name="Text 19"/>
          <p:cNvSpPr txBox="1"/>
          <p:nvPr/>
        </p:nvSpPr>
        <p:spPr>
          <a:xfrm>
            <a:off x="8238744" y="4754880"/>
            <a:ext cx="2862072" cy="109728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Explain every line. Disclose AI use. Get human review of methods.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STEP 3 · PROMPT</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Say what you want, not how to do it</a:t>
            </a:r>
            <a:endParaRPr lang="en-US" sz="3200" dirty="0"/>
          </a:p>
        </p:txBody>
      </p:sp>
      <p:sp>
        <p:nvSpPr>
          <p:cNvPr id="5" name="Text 2"/>
          <p:cNvSpPr txBox="1"/>
          <p:nvPr/>
        </p:nvSpPr>
        <p:spPr>
          <a:xfrm>
            <a:off x="777240" y="1920240"/>
            <a:ext cx="201168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Context</a:t>
            </a:r>
            <a:endParaRPr lang="en-US" sz="2400" dirty="0"/>
          </a:p>
        </p:txBody>
      </p:sp>
      <p:sp>
        <p:nvSpPr>
          <p:cNvPr id="6" name="Text 3"/>
          <p:cNvSpPr txBox="1"/>
          <p:nvPr/>
        </p:nvSpPr>
        <p:spPr>
          <a:xfrm>
            <a:off x="2926080" y="1920240"/>
            <a:ext cx="8485632" cy="123444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"I have a data frame called </a:t>
            </a:r>
            <a:r>
              <a:rPr lang="en-US" sz="2000" b="1" dirty="0">
                <a:solidFill>
                  <a:srgbClr val="5F5256"/>
                </a:solidFill>
                <a:latin typeface="Calibri" pitchFamily="34" charset="0"/>
                <a:ea typeface="Calibri" pitchFamily="34" charset="-122"/>
                <a:cs typeface="Calibri" pitchFamily="34" charset="-120"/>
              </a:rPr>
              <a:t>dat</a:t>
            </a:r>
            <a:r>
              <a:rPr lang="en-US" sz="2000" dirty="0">
                <a:solidFill>
                  <a:srgbClr val="5F5256"/>
                </a:solidFill>
                <a:latin typeface="Calibri" pitchFamily="34" charset="0"/>
                <a:ea typeface="Calibri" pitchFamily="34" charset="-122"/>
                <a:cs typeface="Calibri" pitchFamily="34" charset="-120"/>
              </a:rPr>
              <a:t> with 1,000 rows, in R with the tidyverse and gtsummary. </a:t>
            </a:r>
            <a:r>
              <a:rPr lang="en-US" sz="2000" b="1" dirty="0">
                <a:solidFill>
                  <a:srgbClr val="5F5256"/>
                </a:solidFill>
                <a:latin typeface="Calibri" pitchFamily="34" charset="0"/>
                <a:ea typeface="Calibri" pitchFamily="34" charset="-122"/>
                <a:cs typeface="Calibri" pitchFamily="34" charset="-120"/>
              </a:rPr>
              <a:t>sex</a:t>
            </a:r>
            <a:r>
              <a:rPr lang="en-US" sz="2000" dirty="0">
                <a:solidFill>
                  <a:srgbClr val="5F5256"/>
                </a:solidFill>
                <a:latin typeface="Calibri" pitchFamily="34" charset="0"/>
                <a:ea typeface="Calibri" pitchFamily="34" charset="-122"/>
                <a:cs typeface="Calibri" pitchFamily="34" charset="-120"/>
              </a:rPr>
              <a:t> is "female" / "male" (lowercase). </a:t>
            </a:r>
            <a:r>
              <a:rPr lang="en-US" sz="2000" b="1" dirty="0">
                <a:solidFill>
                  <a:srgbClr val="5F5256"/>
                </a:solidFill>
                <a:latin typeface="Calibri" pitchFamily="34" charset="0"/>
                <a:ea typeface="Calibri" pitchFamily="34" charset="-122"/>
                <a:cs typeface="Calibri" pitchFamily="34" charset="-120"/>
              </a:rPr>
              <a:t>race</a:t>
            </a:r>
            <a:r>
              <a:rPr lang="en-US" sz="2000" dirty="0">
                <a:solidFill>
                  <a:srgbClr val="5F5256"/>
                </a:solidFill>
                <a:latin typeface="Calibri" pitchFamily="34" charset="0"/>
                <a:ea typeface="Calibri" pitchFamily="34" charset="-122"/>
                <a:cs typeface="Calibri" pitchFamily="34" charset="-120"/>
              </a:rPr>
              <a:t> is an integer code 1–5 for a categorical variable. </a:t>
            </a:r>
            <a:r>
              <a:rPr lang="en-US" sz="2000" b="1" dirty="0">
                <a:solidFill>
                  <a:srgbClr val="5F5256"/>
                </a:solidFill>
                <a:latin typeface="Calibri" pitchFamily="34" charset="0"/>
                <a:ea typeface="Calibri" pitchFamily="34" charset="-122"/>
                <a:cs typeface="Calibri" pitchFamily="34" charset="-120"/>
              </a:rPr>
              <a:t>bmi</a:t>
            </a:r>
            <a:r>
              <a:rPr lang="en-US" sz="2000" dirty="0">
                <a:solidFill>
                  <a:srgbClr val="5F5256"/>
                </a:solidFill>
                <a:latin typeface="Calibri" pitchFamily="34" charset="0"/>
                <a:ea typeface="Calibri" pitchFamily="34" charset="-122"/>
                <a:cs typeface="Calibri" pitchFamily="34" charset="-120"/>
              </a:rPr>
              <a:t> uses 999 for missing."</a:t>
            </a:r>
            <a:endParaRPr lang="en-US" sz="2000" dirty="0"/>
          </a:p>
        </p:txBody>
      </p:sp>
      <p:sp>
        <p:nvSpPr>
          <p:cNvPr id="7" name="Shape 4"/>
          <p:cNvSpPr/>
          <p:nvPr/>
        </p:nvSpPr>
        <p:spPr>
          <a:xfrm>
            <a:off x="777240" y="3291840"/>
            <a:ext cx="10637215" cy="0"/>
          </a:xfrm>
          <a:prstGeom prst="line">
            <a:avLst/>
          </a:prstGeom>
          <a:noFill/>
          <a:ln w="9525">
            <a:solidFill>
              <a:srgbClr val="E8D3D7"/>
            </a:solidFill>
            <a:prstDash val="solid"/>
          </a:ln>
        </p:spPr>
        <p:txBody>
          <a:bodyPr/>
          <a:lstStyle/>
          <a:p>
            <a:endParaRPr lang="en-US"/>
          </a:p>
        </p:txBody>
      </p:sp>
      <p:sp>
        <p:nvSpPr>
          <p:cNvPr id="8" name="Text 5"/>
          <p:cNvSpPr txBox="1"/>
          <p:nvPr/>
        </p:nvSpPr>
        <p:spPr>
          <a:xfrm>
            <a:off x="777240" y="3429000"/>
            <a:ext cx="201168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Objective</a:t>
            </a:r>
            <a:endParaRPr lang="en-US" sz="2400" dirty="0"/>
          </a:p>
        </p:txBody>
      </p:sp>
      <p:sp>
        <p:nvSpPr>
          <p:cNvPr id="9" name="Text 6"/>
          <p:cNvSpPr txBox="1"/>
          <p:nvPr/>
        </p:nvSpPr>
        <p:spPr>
          <a:xfrm>
            <a:off x="2926080" y="3429000"/>
            <a:ext cx="8485632" cy="86868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"I want a Table 1 comparing people with and without diabetes."</a:t>
            </a:r>
            <a:endParaRPr lang="en-US" sz="2000" dirty="0"/>
          </a:p>
          <a:p>
            <a:pPr marL="0" indent="0">
              <a:buNone/>
            </a:pPr>
            <a:r>
              <a:rPr lang="en-US" sz="2000" dirty="0">
                <a:solidFill>
                  <a:srgbClr val="8A7C80"/>
                </a:solidFill>
                <a:latin typeface="Calibri" pitchFamily="34" charset="0"/>
                <a:ea typeface="Calibri" pitchFamily="34" charset="-122"/>
                <a:cs typeface="Calibri" pitchFamily="34" charset="-120"/>
              </a:rPr>
              <a:t>Not: "Give me tbl_summary() with by = diabetes."</a:t>
            </a:r>
            <a:endParaRPr lang="en-US" sz="2000" dirty="0"/>
          </a:p>
        </p:txBody>
      </p:sp>
      <p:sp>
        <p:nvSpPr>
          <p:cNvPr id="10" name="Shape 7"/>
          <p:cNvSpPr/>
          <p:nvPr/>
        </p:nvSpPr>
        <p:spPr>
          <a:xfrm>
            <a:off x="777240" y="4434840"/>
            <a:ext cx="10637215" cy="0"/>
          </a:xfrm>
          <a:prstGeom prst="line">
            <a:avLst/>
          </a:prstGeom>
          <a:noFill/>
          <a:ln w="9525">
            <a:solidFill>
              <a:srgbClr val="E8D3D7"/>
            </a:solidFill>
            <a:prstDash val="solid"/>
          </a:ln>
        </p:spPr>
        <p:txBody>
          <a:bodyPr/>
          <a:lstStyle/>
          <a:p>
            <a:endParaRPr lang="en-US"/>
          </a:p>
        </p:txBody>
      </p:sp>
      <p:sp>
        <p:nvSpPr>
          <p:cNvPr id="11" name="Text 8"/>
          <p:cNvSpPr txBox="1"/>
          <p:nvPr/>
        </p:nvSpPr>
        <p:spPr>
          <a:xfrm>
            <a:off x="777240" y="4572000"/>
            <a:ext cx="201168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Format</a:t>
            </a:r>
            <a:endParaRPr lang="en-US" sz="2400" dirty="0"/>
          </a:p>
        </p:txBody>
      </p:sp>
      <p:sp>
        <p:nvSpPr>
          <p:cNvPr id="12" name="Text 9"/>
          <p:cNvSpPr txBox="1"/>
          <p:nvPr/>
        </p:nvSpPr>
        <p:spPr>
          <a:xfrm>
            <a:off x="2926080" y="4572000"/>
            <a:ext cx="8485632" cy="64008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"One commented R Markdown chunk. Explain each line, because I'm learning."</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ECEE"/>
        </a:solidFill>
        <a:effectLst/>
      </p:bgPr>
    </p:bg>
    <p:spTree>
      <p:nvGrpSpPr>
        <p:cNvPr id="1" name=""/>
        <p:cNvGrpSpPr/>
        <p:nvPr/>
      </p:nvGrpSpPr>
      <p:grpSpPr>
        <a:xfrm>
          <a:off x="0" y="0"/>
          <a:ext cx="0" cy="0"/>
          <a:chOff x="0" y="0"/>
          <a:chExt cx="0" cy="0"/>
        </a:xfrm>
      </p:grpSpPr>
      <p:sp>
        <p:nvSpPr>
          <p:cNvPr id="3" name="Shape 0"/>
          <p:cNvSpPr/>
          <p:nvPr/>
        </p:nvSpPr>
        <p:spPr>
          <a:xfrm>
            <a:off x="0" y="0"/>
            <a:ext cx="155448" cy="6858000"/>
          </a:xfrm>
          <a:prstGeom prst="rect">
            <a:avLst/>
          </a:prstGeom>
          <a:solidFill>
            <a:srgbClr val="A51C30"/>
          </a:solidFill>
          <a:ln w="12700">
            <a:solidFill>
              <a:srgbClr val="A51C30"/>
            </a:solidFill>
            <a:prstDash val="solid"/>
          </a:ln>
        </p:spPr>
        <p:txBody>
          <a:bodyPr/>
          <a:lstStyle/>
          <a:p>
            <a:endParaRPr lang="en-US"/>
          </a:p>
        </p:txBody>
      </p:sp>
      <p:sp>
        <p:nvSpPr>
          <p:cNvPr id="4" name="Text 1"/>
          <p:cNvSpPr txBox="1"/>
          <p:nvPr/>
        </p:nvSpPr>
        <p:spPr>
          <a:xfrm>
            <a:off x="1097280" y="2011680"/>
            <a:ext cx="10058400" cy="320040"/>
          </a:xfrm>
          <a:prstGeom prst="rect">
            <a:avLst/>
          </a:prstGeom>
          <a:noFill/>
          <a:ln/>
        </p:spPr>
        <p:txBody>
          <a:bodyPr wrap="square" lIns="0" tIns="0" rIns="0" bIns="0" rtlCol="0" anchor="t"/>
          <a:lstStyle/>
          <a:p>
            <a:pPr marL="0" indent="0">
              <a:buNone/>
            </a:pPr>
            <a:r>
              <a:rPr lang="en-US" sz="1400" b="1" kern="0" spc="300" dirty="0">
                <a:solidFill>
                  <a:srgbClr val="A51C30"/>
                </a:solidFill>
                <a:latin typeface="Calibri" pitchFamily="34" charset="0"/>
                <a:ea typeface="Calibri" pitchFamily="34" charset="-122"/>
                <a:cs typeface="Calibri" pitchFamily="34" charset="-120"/>
              </a:rPr>
              <a:t>PART 3 · LIVE DEMO</a:t>
            </a:r>
            <a:endParaRPr lang="en-US" sz="1400" dirty="0"/>
          </a:p>
        </p:txBody>
      </p:sp>
      <p:sp>
        <p:nvSpPr>
          <p:cNvPr id="5" name="Text 2"/>
          <p:cNvSpPr txBox="1"/>
          <p:nvPr/>
        </p:nvSpPr>
        <p:spPr>
          <a:xfrm>
            <a:off x="1097280" y="2423160"/>
            <a:ext cx="10332720" cy="1828800"/>
          </a:xfrm>
          <a:prstGeom prst="rect">
            <a:avLst/>
          </a:prstGeom>
          <a:noFill/>
          <a:ln/>
        </p:spPr>
        <p:txBody>
          <a:bodyPr wrap="square" lIns="0" tIns="0" rIns="0" bIns="0" rtlCol="0" anchor="t"/>
          <a:lstStyle/>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Demo 1: you can</a:t>
            </a:r>
            <a:endParaRPr lang="en-US" sz="5200" dirty="0"/>
          </a:p>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upload the data</a:t>
            </a:r>
            <a:endParaRPr lang="en-US" sz="5200" dirty="0"/>
          </a:p>
        </p:txBody>
      </p:sp>
      <p:sp>
        <p:nvSpPr>
          <p:cNvPr id="6" name="Text 3"/>
          <p:cNvSpPr txBox="1"/>
          <p:nvPr/>
        </p:nvSpPr>
        <p:spPr>
          <a:xfrm>
            <a:off x="1097280" y="4434840"/>
            <a:ext cx="10058400" cy="457200"/>
          </a:xfrm>
          <a:prstGeom prst="rect">
            <a:avLst/>
          </a:prstGeom>
          <a:noFill/>
          <a:ln/>
        </p:spPr>
        <p:txBody>
          <a:bodyPr wrap="square" lIns="0" tIns="0" rIns="0" bIns="0" rtlCol="0" anchor="t"/>
          <a:lstStyle/>
          <a:p>
            <a:pPr marL="0" indent="0">
              <a:buNone/>
            </a:pPr>
            <a:r>
              <a:rPr lang="en-US" sz="1800" dirty="0">
                <a:solidFill>
                  <a:srgbClr val="5F5256"/>
                </a:solidFill>
                <a:latin typeface="Calibri" pitchFamily="34" charset="0"/>
                <a:ea typeface="Calibri" pitchFamily="34" charset="-122"/>
                <a:cs typeface="Calibri" pitchFamily="34" charset="-120"/>
              </a:rPr>
              <a:t>nhanes_workshop.csv · 1,000 adults from the public NHANES R package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DEMO 1 · WHAT WE'LL ASK FOR</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Five requests, a checkpoint after each</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3755301812"/>
              </p:ext>
            </p:extLst>
          </p:nvPr>
        </p:nvGraphicFramePr>
        <p:xfrm>
          <a:off x="777240" y="1874520"/>
          <a:ext cx="10634472" cy="2743200"/>
        </p:xfrm>
        <a:graphic>
          <a:graphicData uri="http://schemas.openxmlformats.org/drawingml/2006/table">
            <a:tbl>
              <a:tblPr/>
              <a:tblGrid>
                <a:gridCol w="5486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513832">
                  <a:extLst>
                    <a:ext uri="{9D8B030D-6E8A-4147-A177-3AD203B41FA5}">
                      <a16:colId xmlns:a16="http://schemas.microsoft.com/office/drawing/2014/main" val="20002"/>
                    </a:ext>
                  </a:extLst>
                </a:gridCol>
              </a:tblGrid>
              <a:tr h="457200">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Ask the LLM for…</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Then check…</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extLst>
                  <a:ext uri="{0D108BD9-81ED-4DB2-BD59-A6C34878D82A}">
                    <a16:rowId xmlns:a16="http://schemas.microsoft.com/office/drawing/2014/main" val="10000"/>
                  </a:ext>
                </a:extLst>
              </a:tr>
              <a:tr h="457200">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A first look at the data</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Rows, columns, types. Is race a number?</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Descriptive statistics by sex</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Do the groups add to 1,000? Plausible means?</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A histogram and a scatterplot</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What did the warning say about removed rows?</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A Table 1 by diabetes status</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Categorical shown as %? p-values added unasked?</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Linear and logistic regression</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2000" dirty="0">
                          <a:solidFill>
                            <a:srgbClr val="2A1E21"/>
                          </a:solidFill>
                          <a:latin typeface="Calibri" pitchFamily="34" charset="0"/>
                          <a:ea typeface="Calibri" pitchFamily="34" charset="-122"/>
                          <a:cs typeface="Calibri" pitchFamily="34" charset="-120"/>
                        </a:rPr>
                        <a:t>How many people are in the model?</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txBox="1"/>
          <p:nvPr/>
        </p:nvSpPr>
        <p:spPr>
          <a:xfrm>
            <a:off x="777240" y="5120640"/>
            <a:ext cx="10637215" cy="54864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After each, we'll ask for </a:t>
            </a:r>
            <a:r>
              <a:rPr lang="en-US" b="1" dirty="0">
                <a:solidFill>
                  <a:srgbClr val="5F5256"/>
                </a:solidFill>
                <a:latin typeface="Calibri" pitchFamily="34" charset="0"/>
                <a:ea typeface="Calibri" pitchFamily="34" charset="-122"/>
                <a:cs typeface="Calibri" pitchFamily="34" charset="-120"/>
              </a:rPr>
              <a:t>the R code</a:t>
            </a:r>
            <a:r>
              <a:rPr lang="en-US" dirty="0">
                <a:solidFill>
                  <a:srgbClr val="5F5256"/>
                </a:solidFill>
                <a:latin typeface="Calibri" pitchFamily="34" charset="0"/>
                <a:ea typeface="Calibri" pitchFamily="34" charset="-122"/>
                <a:cs typeface="Calibri" pitchFamily="34" charset="-120"/>
              </a:rPr>
              <a:t> and run it in RStudio. The chat's answer and R's answer should match.</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CHECKPOINT · ARE THE VALUES PLAUSIBLE?</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Mean BMI is 37.6. Plausible?</a:t>
            </a:r>
            <a:endParaRPr lang="en-US" sz="3200" dirty="0"/>
          </a:p>
        </p:txBody>
      </p:sp>
      <p:sp>
        <p:nvSpPr>
          <p:cNvPr id="5" name="Shape 2"/>
          <p:cNvSpPr/>
          <p:nvPr/>
        </p:nvSpPr>
        <p:spPr>
          <a:xfrm>
            <a:off x="777240" y="1920240"/>
            <a:ext cx="3246120" cy="2529840"/>
          </a:xfrm>
          <a:prstGeom prst="roundRect">
            <a:avLst>
              <a:gd name="adj" fmla="val 3333"/>
            </a:avLst>
          </a:prstGeom>
          <a:solidFill>
            <a:srgbClr val="F7ECEE"/>
          </a:solidFill>
          <a:ln w="9525">
            <a:solidFill>
              <a:srgbClr val="E8D3D7"/>
            </a:solidFill>
            <a:prstDash val="solid"/>
          </a:ln>
        </p:spPr>
        <p:txBody>
          <a:bodyPr/>
          <a:lstStyle/>
          <a:p>
            <a:endParaRPr lang="en-US"/>
          </a:p>
        </p:txBody>
      </p:sp>
      <p:sp>
        <p:nvSpPr>
          <p:cNvPr id="6" name="Text 3"/>
          <p:cNvSpPr txBox="1"/>
          <p:nvPr/>
        </p:nvSpPr>
        <p:spPr>
          <a:xfrm>
            <a:off x="1143000" y="2240280"/>
            <a:ext cx="4389120" cy="2651760"/>
          </a:xfrm>
          <a:prstGeom prst="rect">
            <a:avLst/>
          </a:prstGeom>
          <a:noFill/>
          <a:ln/>
        </p:spPr>
        <p:txBody>
          <a:bodyPr wrap="square" lIns="0" tIns="0" rIns="0" bIns="0" rtlCol="0" anchor="t"/>
          <a:lstStyle/>
          <a:p>
            <a:pPr marL="0" indent="0">
              <a:lnSpc>
                <a:spcPct val="125000"/>
              </a:lnSpc>
              <a:buNone/>
            </a:pPr>
            <a:r>
              <a:rPr lang="en-US" sz="1600" dirty="0">
                <a:solidFill>
                  <a:srgbClr val="2A1E21"/>
                </a:solidFill>
                <a:latin typeface="Courier New" pitchFamily="34" charset="0"/>
                <a:ea typeface="Courier New" pitchFamily="34" charset="-122"/>
                <a:cs typeface="Courier New" pitchFamily="34" charset="-120"/>
              </a:rPr>
              <a:t>summary(dat_raw$bmi)</a:t>
            </a:r>
            <a:endParaRPr lang="en-US" sz="1600" dirty="0"/>
          </a:p>
          <a:p>
            <a:pPr marL="0" indent="0">
              <a:lnSpc>
                <a:spcPct val="125000"/>
              </a:lnSpc>
              <a:buNone/>
            </a:pPr>
            <a:r>
              <a:rPr lang="en-US" sz="1600" dirty="0">
                <a:solidFill>
                  <a:srgbClr val="2A1E21"/>
                </a:solidFill>
                <a:latin typeface="Courier New" pitchFamily="34" charset="0"/>
                <a:ea typeface="Courier New" pitchFamily="34" charset="-122"/>
                <a:cs typeface="Courier New" pitchFamily="34" charset="-120"/>
              </a:rPr>
              <a:t> </a:t>
            </a:r>
            <a:endParaRPr lang="en-US" sz="1600" dirty="0"/>
          </a:p>
          <a:p>
            <a:pPr marL="0" indent="0">
              <a:lnSpc>
                <a:spcPct val="125000"/>
              </a:lnSpc>
              <a:buNone/>
            </a:pPr>
            <a:r>
              <a:rPr lang="en-US" sz="1600" dirty="0">
                <a:solidFill>
                  <a:srgbClr val="2A1E21"/>
                </a:solidFill>
                <a:latin typeface="Courier New" pitchFamily="34" charset="0"/>
                <a:ea typeface="Courier New" pitchFamily="34" charset="-122"/>
                <a:cs typeface="Courier New" pitchFamily="34" charset="-120"/>
              </a:rPr>
              <a:t>Min.    15.80</a:t>
            </a:r>
            <a:endParaRPr lang="en-US" sz="1600" dirty="0"/>
          </a:p>
          <a:p>
            <a:pPr marL="0" indent="0">
              <a:lnSpc>
                <a:spcPct val="125000"/>
              </a:lnSpc>
              <a:buNone/>
            </a:pPr>
            <a:r>
              <a:rPr lang="en-US" sz="1600" dirty="0">
                <a:solidFill>
                  <a:srgbClr val="2A1E21"/>
                </a:solidFill>
                <a:latin typeface="Courier New" pitchFamily="34" charset="0"/>
                <a:ea typeface="Courier New" pitchFamily="34" charset="-122"/>
                <a:cs typeface="Courier New" pitchFamily="34" charset="-120"/>
              </a:rPr>
              <a:t>Median  28.10</a:t>
            </a:r>
            <a:endParaRPr lang="en-US" sz="1600" dirty="0"/>
          </a:p>
          <a:p>
            <a:pPr marL="0" indent="0">
              <a:lnSpc>
                <a:spcPct val="125000"/>
              </a:lnSpc>
              <a:buNone/>
            </a:pPr>
            <a:r>
              <a:rPr lang="en-US" sz="1600" dirty="0">
                <a:solidFill>
                  <a:srgbClr val="2A1E21"/>
                </a:solidFill>
                <a:latin typeface="Courier New" pitchFamily="34" charset="0"/>
                <a:ea typeface="Courier New" pitchFamily="34" charset="-122"/>
                <a:cs typeface="Courier New" pitchFamily="34" charset="-120"/>
              </a:rPr>
              <a:t>Mean    37.62</a:t>
            </a:r>
            <a:endParaRPr lang="en-US" sz="1600" dirty="0"/>
          </a:p>
          <a:p>
            <a:pPr marL="0" indent="0">
              <a:lnSpc>
                <a:spcPct val="125000"/>
              </a:lnSpc>
              <a:buNone/>
            </a:pPr>
            <a:r>
              <a:rPr lang="en-US" sz="1600" b="1" dirty="0">
                <a:solidFill>
                  <a:srgbClr val="A51C30"/>
                </a:solidFill>
                <a:latin typeface="Courier New" pitchFamily="34" charset="0"/>
                <a:ea typeface="Courier New" pitchFamily="34" charset="-122"/>
                <a:cs typeface="Courier New" pitchFamily="34" charset="-120"/>
              </a:rPr>
              <a:t>Max.   999.00</a:t>
            </a:r>
            <a:endParaRPr lang="en-US" sz="1600" dirty="0"/>
          </a:p>
        </p:txBody>
      </p:sp>
      <p:sp>
        <p:nvSpPr>
          <p:cNvPr id="7" name="Text 4"/>
          <p:cNvSpPr txBox="1"/>
          <p:nvPr/>
        </p:nvSpPr>
        <p:spPr>
          <a:xfrm>
            <a:off x="4693920" y="2103120"/>
            <a:ext cx="6717792" cy="822960"/>
          </a:xfrm>
          <a:prstGeom prst="rect">
            <a:avLst/>
          </a:prstGeom>
          <a:noFill/>
          <a:ln/>
        </p:spPr>
        <p:txBody>
          <a:bodyPr wrap="square" lIns="0" tIns="0" rIns="0" bIns="0" rtlCol="0" anchor="t"/>
          <a:lstStyle/>
          <a:p>
            <a:pPr marL="0" indent="0">
              <a:buNone/>
            </a:pPr>
            <a:r>
              <a:rPr lang="en-US" sz="2400" dirty="0">
                <a:solidFill>
                  <a:srgbClr val="2A1E21"/>
                </a:solidFill>
                <a:latin typeface="Calibri" pitchFamily="34" charset="0"/>
                <a:ea typeface="Calibri" pitchFamily="34" charset="-122"/>
                <a:cs typeface="Calibri" pitchFamily="34" charset="-120"/>
              </a:rPr>
              <a:t>The mean alone doesn't scream. </a:t>
            </a:r>
            <a:r>
              <a:rPr lang="en-US" sz="2400" b="1" dirty="0">
                <a:solidFill>
                  <a:srgbClr val="2A1E21"/>
                </a:solidFill>
                <a:latin typeface="Calibri" pitchFamily="34" charset="0"/>
                <a:ea typeface="Calibri" pitchFamily="34" charset="-122"/>
                <a:cs typeface="Calibri" pitchFamily="34" charset="-120"/>
              </a:rPr>
              <a:t>The maximum does.</a:t>
            </a:r>
            <a:endParaRPr lang="en-US" sz="2400" dirty="0"/>
          </a:p>
        </p:txBody>
      </p:sp>
      <p:sp>
        <p:nvSpPr>
          <p:cNvPr id="8" name="Text 5"/>
          <p:cNvSpPr txBox="1"/>
          <p:nvPr/>
        </p:nvSpPr>
        <p:spPr>
          <a:xfrm>
            <a:off x="4693920" y="3063240"/>
            <a:ext cx="6717792" cy="914400"/>
          </a:xfrm>
          <a:prstGeom prst="rect">
            <a:avLst/>
          </a:prstGeom>
          <a:noFill/>
          <a:ln/>
        </p:spPr>
        <p:txBody>
          <a:bodyPr wrap="square" lIns="0" tIns="0" rIns="0" bIns="0" rtlCol="0" anchor="t"/>
          <a:lstStyle/>
          <a:p>
            <a:pPr marL="0" indent="0">
              <a:buNone/>
            </a:pPr>
            <a:r>
              <a:rPr lang="en-US" sz="2400" dirty="0">
                <a:solidFill>
                  <a:srgbClr val="5F5256"/>
                </a:solidFill>
                <a:latin typeface="Calibri" pitchFamily="34" charset="0"/>
                <a:ea typeface="Calibri" pitchFamily="34" charset="-122"/>
                <a:cs typeface="Calibri" pitchFamily="34" charset="-120"/>
              </a:rPr>
              <a:t>999 is the codebook's missing-value code. Nine fake "people" pushed the mean up by almost 9 points.</a:t>
            </a:r>
            <a:endParaRPr lang="en-US" sz="2400" dirty="0"/>
          </a:p>
        </p:txBody>
      </p:sp>
      <p:sp>
        <p:nvSpPr>
          <p:cNvPr id="9" name="Text 6"/>
          <p:cNvSpPr txBox="1"/>
          <p:nvPr/>
        </p:nvSpPr>
        <p:spPr>
          <a:xfrm>
            <a:off x="4693920" y="4160520"/>
            <a:ext cx="6717792" cy="548640"/>
          </a:xfrm>
          <a:prstGeom prst="rect">
            <a:avLst/>
          </a:prstGeom>
          <a:noFill/>
          <a:ln/>
        </p:spPr>
        <p:txBody>
          <a:bodyPr wrap="square" lIns="0" tIns="0" rIns="0" bIns="0" rtlCol="0" anchor="t"/>
          <a:lstStyle/>
          <a:p>
            <a:pPr marL="0" indent="0">
              <a:buNone/>
            </a:pPr>
            <a:r>
              <a:rPr lang="en-US" sz="2400" dirty="0">
                <a:solidFill>
                  <a:srgbClr val="5F5256"/>
                </a:solidFill>
                <a:latin typeface="Calibri" pitchFamily="34" charset="0"/>
                <a:ea typeface="Calibri" pitchFamily="34" charset="-122"/>
                <a:cs typeface="Calibri" pitchFamily="34" charset="-120"/>
              </a:rPr>
              <a:t>After </a:t>
            </a:r>
            <a:r>
              <a:rPr lang="en-US" sz="2400" dirty="0">
                <a:solidFill>
                  <a:srgbClr val="A51C30"/>
                </a:solidFill>
                <a:latin typeface="Courier New" pitchFamily="34" charset="0"/>
                <a:ea typeface="Courier New" pitchFamily="34" charset="-122"/>
                <a:cs typeface="Courier New" pitchFamily="34" charset="-120"/>
              </a:rPr>
              <a:t>na_if(bmi, 999)</a:t>
            </a:r>
            <a:r>
              <a:rPr lang="en-US" sz="2400" dirty="0">
                <a:solidFill>
                  <a:srgbClr val="5F5256"/>
                </a:solidFill>
                <a:latin typeface="Calibri" pitchFamily="34" charset="0"/>
                <a:ea typeface="Calibri" pitchFamily="34" charset="-122"/>
                <a:cs typeface="Calibri" pitchFamily="34" charset="-120"/>
              </a:rPr>
              <a:t>: mean 28.9, max 62.8.</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CHECKPOINT · RIGHT DIMENSIONS?</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Where did 48 people go?</a:t>
            </a:r>
            <a:endParaRPr lang="en-US" sz="3200" dirty="0"/>
          </a:p>
        </p:txBody>
      </p:sp>
      <p:sp>
        <p:nvSpPr>
          <p:cNvPr id="5" name="Shape 2"/>
          <p:cNvSpPr/>
          <p:nvPr/>
        </p:nvSpPr>
        <p:spPr>
          <a:xfrm>
            <a:off x="777240" y="1920240"/>
            <a:ext cx="4526280" cy="2286000"/>
          </a:xfrm>
          <a:prstGeom prst="roundRect">
            <a:avLst>
              <a:gd name="adj" fmla="val 4800"/>
            </a:avLst>
          </a:prstGeom>
          <a:solidFill>
            <a:srgbClr val="FFFFFF"/>
          </a:solidFill>
          <a:ln w="9525">
            <a:solidFill>
              <a:srgbClr val="E8D3D7"/>
            </a:solidFill>
            <a:prstDash val="solid"/>
          </a:ln>
        </p:spPr>
        <p:txBody>
          <a:bodyPr/>
          <a:lstStyle/>
          <a:p>
            <a:endParaRPr lang="en-US"/>
          </a:p>
        </p:txBody>
      </p:sp>
      <p:sp>
        <p:nvSpPr>
          <p:cNvPr id="6" name="Text 3"/>
          <p:cNvSpPr txBox="1"/>
          <p:nvPr/>
        </p:nvSpPr>
        <p:spPr>
          <a:xfrm>
            <a:off x="777240" y="2148840"/>
            <a:ext cx="4526280" cy="1188720"/>
          </a:xfrm>
          <a:prstGeom prst="rect">
            <a:avLst/>
          </a:prstGeom>
          <a:noFill/>
          <a:ln/>
        </p:spPr>
        <p:txBody>
          <a:bodyPr wrap="square" lIns="0" tIns="0" rIns="0" bIns="0" rtlCol="0" anchor="ctr"/>
          <a:lstStyle/>
          <a:p>
            <a:pPr marL="0" indent="0" algn="ctr">
              <a:buNone/>
            </a:pPr>
            <a:r>
              <a:rPr lang="en-US" sz="6600" b="1" dirty="0">
                <a:solidFill>
                  <a:srgbClr val="2A1E21"/>
                </a:solidFill>
                <a:latin typeface="Cambria" pitchFamily="34" charset="0"/>
                <a:ea typeface="Cambria" pitchFamily="34" charset="-122"/>
                <a:cs typeface="Cambria" pitchFamily="34" charset="-120"/>
              </a:rPr>
              <a:t>1,000</a:t>
            </a:r>
            <a:endParaRPr lang="en-US" sz="6600" dirty="0"/>
          </a:p>
        </p:txBody>
      </p:sp>
      <p:sp>
        <p:nvSpPr>
          <p:cNvPr id="7" name="Text 4"/>
          <p:cNvSpPr txBox="1"/>
          <p:nvPr/>
        </p:nvSpPr>
        <p:spPr>
          <a:xfrm>
            <a:off x="777240" y="3429000"/>
            <a:ext cx="4526280" cy="457200"/>
          </a:xfrm>
          <a:prstGeom prst="rect">
            <a:avLst/>
          </a:prstGeom>
          <a:noFill/>
          <a:ln/>
        </p:spPr>
        <p:txBody>
          <a:bodyPr wrap="square" lIns="0" tIns="0" rIns="0" bIns="0" rtlCol="0" anchor="t"/>
          <a:lstStyle/>
          <a:p>
            <a:pPr marL="0" indent="0" algn="ctr">
              <a:buNone/>
            </a:pPr>
            <a:r>
              <a:rPr lang="en-US" dirty="0">
                <a:solidFill>
                  <a:srgbClr val="5F5256"/>
                </a:solidFill>
                <a:latin typeface="Calibri" pitchFamily="34" charset="0"/>
                <a:ea typeface="Calibri" pitchFamily="34" charset="-122"/>
                <a:cs typeface="Calibri" pitchFamily="34" charset="-120"/>
              </a:rPr>
              <a:t>people in Table 1</a:t>
            </a:r>
            <a:endParaRPr lang="en-US" dirty="0"/>
          </a:p>
        </p:txBody>
      </p:sp>
      <p:sp>
        <p:nvSpPr>
          <p:cNvPr id="8" name="Shape 5"/>
          <p:cNvSpPr/>
          <p:nvPr/>
        </p:nvSpPr>
        <p:spPr>
          <a:xfrm>
            <a:off x="6885432" y="1920240"/>
            <a:ext cx="4526280" cy="2286000"/>
          </a:xfrm>
          <a:prstGeom prst="roundRect">
            <a:avLst>
              <a:gd name="adj" fmla="val 4800"/>
            </a:avLst>
          </a:prstGeom>
          <a:solidFill>
            <a:srgbClr val="FFFFFF"/>
          </a:solidFill>
          <a:ln w="9525">
            <a:solidFill>
              <a:srgbClr val="E8D3D7"/>
            </a:solidFill>
            <a:prstDash val="solid"/>
          </a:ln>
        </p:spPr>
        <p:txBody>
          <a:bodyPr/>
          <a:lstStyle/>
          <a:p>
            <a:endParaRPr lang="en-US"/>
          </a:p>
        </p:txBody>
      </p:sp>
      <p:sp>
        <p:nvSpPr>
          <p:cNvPr id="9" name="Text 6"/>
          <p:cNvSpPr txBox="1"/>
          <p:nvPr/>
        </p:nvSpPr>
        <p:spPr>
          <a:xfrm>
            <a:off x="6885432" y="2148840"/>
            <a:ext cx="4526280" cy="1188720"/>
          </a:xfrm>
          <a:prstGeom prst="rect">
            <a:avLst/>
          </a:prstGeom>
          <a:noFill/>
          <a:ln/>
        </p:spPr>
        <p:txBody>
          <a:bodyPr wrap="square" lIns="0" tIns="0" rIns="0" bIns="0" rtlCol="0" anchor="ctr"/>
          <a:lstStyle/>
          <a:p>
            <a:pPr marL="0" indent="0" algn="ctr">
              <a:buNone/>
            </a:pPr>
            <a:r>
              <a:rPr lang="en-US" sz="6600" b="1" dirty="0">
                <a:solidFill>
                  <a:srgbClr val="A51C30"/>
                </a:solidFill>
                <a:latin typeface="Cambria" pitchFamily="34" charset="0"/>
                <a:ea typeface="Cambria" pitchFamily="34" charset="-122"/>
                <a:cs typeface="Cambria" pitchFamily="34" charset="-120"/>
              </a:rPr>
              <a:t>952</a:t>
            </a:r>
            <a:endParaRPr lang="en-US" sz="6600" dirty="0"/>
          </a:p>
        </p:txBody>
      </p:sp>
      <p:sp>
        <p:nvSpPr>
          <p:cNvPr id="10" name="Text 7"/>
          <p:cNvSpPr txBox="1"/>
          <p:nvPr/>
        </p:nvSpPr>
        <p:spPr>
          <a:xfrm>
            <a:off x="6885432" y="3429000"/>
            <a:ext cx="4526280" cy="457200"/>
          </a:xfrm>
          <a:prstGeom prst="rect">
            <a:avLst/>
          </a:prstGeom>
          <a:noFill/>
          <a:ln/>
        </p:spPr>
        <p:txBody>
          <a:bodyPr wrap="square" lIns="0" tIns="0" rIns="0" bIns="0" rtlCol="0" anchor="t"/>
          <a:lstStyle/>
          <a:p>
            <a:pPr marL="0" indent="0" algn="ctr">
              <a:buNone/>
            </a:pPr>
            <a:r>
              <a:rPr lang="en-US" dirty="0">
                <a:solidFill>
                  <a:srgbClr val="5F5256"/>
                </a:solidFill>
                <a:latin typeface="Calibri" pitchFamily="34" charset="0"/>
                <a:ea typeface="Calibri" pitchFamily="34" charset="-122"/>
                <a:cs typeface="Calibri" pitchFamily="34" charset="-120"/>
              </a:rPr>
              <a:t>people in the regression</a:t>
            </a:r>
            <a:endParaRPr lang="en-US" dirty="0"/>
          </a:p>
        </p:txBody>
      </p:sp>
      <p:sp>
        <p:nvSpPr>
          <p:cNvPr id="11" name="Shape 8"/>
          <p:cNvSpPr/>
          <p:nvPr/>
        </p:nvSpPr>
        <p:spPr>
          <a:xfrm>
            <a:off x="5577840" y="2788920"/>
            <a:ext cx="1005840" cy="548640"/>
          </a:xfrm>
          <a:prstGeom prst="rightArrow">
            <a:avLst/>
          </a:prstGeom>
          <a:solidFill>
            <a:srgbClr val="A51C30"/>
          </a:solidFill>
          <a:ln w="12700">
            <a:solidFill>
              <a:srgbClr val="A51C30"/>
            </a:solidFill>
            <a:prstDash val="solid"/>
          </a:ln>
        </p:spPr>
        <p:txBody>
          <a:bodyPr/>
          <a:lstStyle/>
          <a:p>
            <a:endParaRPr lang="en-US"/>
          </a:p>
        </p:txBody>
      </p:sp>
      <p:sp>
        <p:nvSpPr>
          <p:cNvPr id="12" name="Text 9"/>
          <p:cNvSpPr txBox="1"/>
          <p:nvPr/>
        </p:nvSpPr>
        <p:spPr>
          <a:xfrm>
            <a:off x="777240" y="4572000"/>
            <a:ext cx="10637215" cy="82296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lm() silently drops rows with any missing value: 41 missing BP, 9 missing BMI (2 overlap). </a:t>
            </a:r>
            <a:r>
              <a:rPr lang="en-US" dirty="0">
                <a:solidFill>
                  <a:srgbClr val="A51C30"/>
                </a:solidFill>
                <a:latin typeface="Courier New" pitchFamily="34" charset="0"/>
                <a:ea typeface="Courier New" pitchFamily="34" charset="-122"/>
                <a:cs typeface="Courier New" pitchFamily="34" charset="-120"/>
              </a:rPr>
              <a:t>nobs(fit)</a:t>
            </a:r>
            <a:r>
              <a:rPr lang="en-US" dirty="0">
                <a:solidFill>
                  <a:srgbClr val="5F5256"/>
                </a:solidFill>
                <a:latin typeface="Calibri" pitchFamily="34" charset="0"/>
                <a:ea typeface="Calibri" pitchFamily="34" charset="-122"/>
                <a:cs typeface="Calibri" pitchFamily="34" charset="-120"/>
              </a:rPr>
              <a:t> tells you. Your methods section must too.</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CHECKPOINT · INTERPRETATION</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The code was right. Is the summary?</a:t>
            </a:r>
            <a:endParaRPr lang="en-US" sz="3200" dirty="0"/>
          </a:p>
        </p:txBody>
      </p:sp>
      <p:sp>
        <p:nvSpPr>
          <p:cNvPr id="5" name="Shape 2"/>
          <p:cNvSpPr/>
          <p:nvPr/>
        </p:nvSpPr>
        <p:spPr>
          <a:xfrm>
            <a:off x="777240" y="1874520"/>
            <a:ext cx="10637215" cy="1188720"/>
          </a:xfrm>
          <a:prstGeom prst="roundRect">
            <a:avLst>
              <a:gd name="adj" fmla="val 9231"/>
            </a:avLst>
          </a:prstGeom>
          <a:solidFill>
            <a:srgbClr val="A51C30"/>
          </a:solidFill>
          <a:ln w="9525">
            <a:solidFill>
              <a:srgbClr val="A51C30"/>
            </a:solidFill>
            <a:prstDash val="solid"/>
          </a:ln>
        </p:spPr>
        <p:txBody>
          <a:bodyPr/>
          <a:lstStyle/>
          <a:p>
            <a:endParaRPr lang="en-US"/>
          </a:p>
        </p:txBody>
      </p:sp>
      <p:sp>
        <p:nvSpPr>
          <p:cNvPr id="6" name="Shape 3"/>
          <p:cNvSpPr/>
          <p:nvPr/>
        </p:nvSpPr>
        <p:spPr>
          <a:xfrm>
            <a:off x="850392" y="1874520"/>
            <a:ext cx="10564063" cy="1188720"/>
          </a:xfrm>
          <a:prstGeom prst="roundRect">
            <a:avLst>
              <a:gd name="adj" fmla="val 9231"/>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143000" y="1874520"/>
            <a:ext cx="2555240" cy="1188720"/>
          </a:xfrm>
          <a:prstGeom prst="rect">
            <a:avLst/>
          </a:prstGeom>
          <a:noFill/>
          <a:ln/>
        </p:spPr>
        <p:txBody>
          <a:bodyPr wrap="square" lIns="0" tIns="0" rIns="0" bIns="0" rtlCol="0" anchor="ctr"/>
          <a:lstStyle/>
          <a:p>
            <a:pPr marL="0" indent="0">
              <a:buNone/>
            </a:pPr>
            <a:r>
              <a:rPr lang="en-US" b="1" dirty="0">
                <a:solidFill>
                  <a:srgbClr val="2A1E21"/>
                </a:solidFill>
                <a:latin typeface="Calibri" pitchFamily="34" charset="0"/>
                <a:ea typeface="Calibri" pitchFamily="34" charset="-122"/>
                <a:cs typeface="Calibri" pitchFamily="34" charset="-120"/>
              </a:rPr>
              <a:t>BMI: 0.14 mmHg per unit, p = 0.076</a:t>
            </a:r>
            <a:endParaRPr lang="en-US" dirty="0"/>
          </a:p>
        </p:txBody>
      </p:sp>
      <p:sp>
        <p:nvSpPr>
          <p:cNvPr id="8" name="Text 5"/>
          <p:cNvSpPr txBox="1"/>
          <p:nvPr/>
        </p:nvSpPr>
        <p:spPr>
          <a:xfrm>
            <a:off x="4541520" y="1874520"/>
            <a:ext cx="6614160" cy="1188720"/>
          </a:xfrm>
          <a:prstGeom prst="rect">
            <a:avLst/>
          </a:prstGeom>
          <a:noFill/>
          <a:ln/>
        </p:spPr>
        <p:txBody>
          <a:bodyPr wrap="square" lIns="0" tIns="0" rIns="0" bIns="0" rtlCol="0" anchor="ctr"/>
          <a:lstStyle/>
          <a:p>
            <a:pPr marL="0" indent="0">
              <a:buNone/>
            </a:pPr>
            <a:r>
              <a:rPr lang="en-US" dirty="0">
                <a:solidFill>
                  <a:srgbClr val="5F5256"/>
                </a:solidFill>
                <a:latin typeface="Calibri" pitchFamily="34" charset="0"/>
                <a:ea typeface="Calibri" pitchFamily="34" charset="-122"/>
                <a:cs typeface="Calibri" pitchFamily="34" charset="-120"/>
              </a:rPr>
              <a:t>Watch for "significant" or "trend toward significance." Report the estimate and CI, and let the reader judge.</a:t>
            </a:r>
            <a:endParaRPr lang="en-US" dirty="0"/>
          </a:p>
        </p:txBody>
      </p:sp>
      <p:sp>
        <p:nvSpPr>
          <p:cNvPr id="9" name="Shape 6"/>
          <p:cNvSpPr/>
          <p:nvPr/>
        </p:nvSpPr>
        <p:spPr>
          <a:xfrm>
            <a:off x="777240" y="3246120"/>
            <a:ext cx="10637215" cy="1188720"/>
          </a:xfrm>
          <a:prstGeom prst="roundRect">
            <a:avLst>
              <a:gd name="adj" fmla="val 9231"/>
            </a:avLst>
          </a:prstGeom>
          <a:solidFill>
            <a:srgbClr val="A51C30"/>
          </a:solidFill>
          <a:ln w="9525">
            <a:solidFill>
              <a:srgbClr val="A51C30"/>
            </a:solidFill>
            <a:prstDash val="solid"/>
          </a:ln>
        </p:spPr>
        <p:txBody>
          <a:bodyPr/>
          <a:lstStyle/>
          <a:p>
            <a:endParaRPr lang="en-US"/>
          </a:p>
        </p:txBody>
      </p:sp>
      <p:sp>
        <p:nvSpPr>
          <p:cNvPr id="10" name="Shape 7"/>
          <p:cNvSpPr/>
          <p:nvPr/>
        </p:nvSpPr>
        <p:spPr>
          <a:xfrm>
            <a:off x="850392" y="3246120"/>
            <a:ext cx="10564063" cy="1188720"/>
          </a:xfrm>
          <a:prstGeom prst="roundRect">
            <a:avLst>
              <a:gd name="adj" fmla="val 9231"/>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1143000" y="3246120"/>
            <a:ext cx="2555240" cy="1188720"/>
          </a:xfrm>
          <a:prstGeom prst="rect">
            <a:avLst/>
          </a:prstGeom>
          <a:noFill/>
          <a:ln/>
        </p:spPr>
        <p:txBody>
          <a:bodyPr wrap="square" lIns="0" tIns="0" rIns="0" bIns="0" rtlCol="0" anchor="ctr"/>
          <a:lstStyle/>
          <a:p>
            <a:pPr marL="0" indent="0">
              <a:buNone/>
            </a:pPr>
            <a:r>
              <a:rPr lang="en-US" b="1" dirty="0">
                <a:solidFill>
                  <a:srgbClr val="2A1E21"/>
                </a:solidFill>
                <a:latin typeface="Calibri" pitchFamily="34" charset="0"/>
                <a:ea typeface="Calibri" pitchFamily="34" charset="-122"/>
                <a:cs typeface="Calibri" pitchFamily="34" charset="-120"/>
              </a:rPr>
              <a:t>Physically active: OR 0.61</a:t>
            </a:r>
            <a:endParaRPr lang="en-US" dirty="0"/>
          </a:p>
        </p:txBody>
      </p:sp>
      <p:sp>
        <p:nvSpPr>
          <p:cNvPr id="12" name="Text 9"/>
          <p:cNvSpPr txBox="1"/>
          <p:nvPr/>
        </p:nvSpPr>
        <p:spPr>
          <a:xfrm>
            <a:off x="4541520" y="3246120"/>
            <a:ext cx="6614160" cy="1188720"/>
          </a:xfrm>
          <a:prstGeom prst="rect">
            <a:avLst/>
          </a:prstGeom>
          <a:noFill/>
          <a:ln/>
        </p:spPr>
        <p:txBody>
          <a:bodyPr wrap="square" lIns="0" tIns="0" rIns="0" bIns="0" rtlCol="0" anchor="ctr"/>
          <a:lstStyle/>
          <a:p>
            <a:pPr marL="0" indent="0">
              <a:buNone/>
            </a:pPr>
            <a:r>
              <a:rPr lang="en-US" dirty="0">
                <a:solidFill>
                  <a:srgbClr val="5F5256"/>
                </a:solidFill>
                <a:latin typeface="Calibri" pitchFamily="34" charset="0"/>
                <a:ea typeface="Calibri" pitchFamily="34" charset="-122"/>
                <a:cs typeface="Calibri" pitchFamily="34" charset="-120"/>
              </a:rPr>
              <a:t>An odds ratio, not "39% lower risk." Close here because diabetes is rare (9%); not in general.</a:t>
            </a:r>
            <a:endParaRPr lang="en-US" dirty="0"/>
          </a:p>
        </p:txBody>
      </p:sp>
      <p:sp>
        <p:nvSpPr>
          <p:cNvPr id="13" name="Shape 10"/>
          <p:cNvSpPr/>
          <p:nvPr/>
        </p:nvSpPr>
        <p:spPr>
          <a:xfrm>
            <a:off x="777240" y="4617720"/>
            <a:ext cx="10637215" cy="1188720"/>
          </a:xfrm>
          <a:prstGeom prst="roundRect">
            <a:avLst>
              <a:gd name="adj" fmla="val 9231"/>
            </a:avLst>
          </a:prstGeom>
          <a:solidFill>
            <a:srgbClr val="A51C30"/>
          </a:solidFill>
          <a:ln w="9525">
            <a:solidFill>
              <a:srgbClr val="A51C30"/>
            </a:solidFill>
            <a:prstDash val="solid"/>
          </a:ln>
        </p:spPr>
        <p:txBody>
          <a:bodyPr/>
          <a:lstStyle/>
          <a:p>
            <a:endParaRPr lang="en-US"/>
          </a:p>
        </p:txBody>
      </p:sp>
      <p:sp>
        <p:nvSpPr>
          <p:cNvPr id="14" name="Shape 11"/>
          <p:cNvSpPr/>
          <p:nvPr/>
        </p:nvSpPr>
        <p:spPr>
          <a:xfrm>
            <a:off x="850392" y="4617720"/>
            <a:ext cx="10564063" cy="1188720"/>
          </a:xfrm>
          <a:prstGeom prst="roundRect">
            <a:avLst>
              <a:gd name="adj" fmla="val 9231"/>
            </a:avLst>
          </a:prstGeom>
          <a:solidFill>
            <a:srgbClr val="FFFFFF"/>
          </a:solidFill>
          <a:ln w="9525">
            <a:solidFill>
              <a:srgbClr val="E8D3D7"/>
            </a:solidFill>
            <a:prstDash val="solid"/>
          </a:ln>
        </p:spPr>
        <p:txBody>
          <a:bodyPr/>
          <a:lstStyle/>
          <a:p>
            <a:endParaRPr lang="en-US"/>
          </a:p>
        </p:txBody>
      </p:sp>
      <p:sp>
        <p:nvSpPr>
          <p:cNvPr id="15" name="Text 12"/>
          <p:cNvSpPr txBox="1"/>
          <p:nvPr/>
        </p:nvSpPr>
        <p:spPr>
          <a:xfrm>
            <a:off x="1143000" y="4617720"/>
            <a:ext cx="2555240" cy="1188720"/>
          </a:xfrm>
          <a:prstGeom prst="rect">
            <a:avLst/>
          </a:prstGeom>
          <a:noFill/>
          <a:ln/>
        </p:spPr>
        <p:txBody>
          <a:bodyPr wrap="square" lIns="0" tIns="0" rIns="0" bIns="0" rtlCol="0" anchor="ctr"/>
          <a:lstStyle/>
          <a:p>
            <a:pPr marL="0" indent="0">
              <a:buNone/>
            </a:pPr>
            <a:r>
              <a:rPr lang="en-US" b="1" dirty="0">
                <a:solidFill>
                  <a:srgbClr val="2A1E21"/>
                </a:solidFill>
                <a:latin typeface="Calibri" pitchFamily="34" charset="0"/>
                <a:ea typeface="Calibri" pitchFamily="34" charset="-122"/>
                <a:cs typeface="Calibri" pitchFamily="34" charset="-120"/>
              </a:rPr>
              <a:t>Cross-sectional NHANES</a:t>
            </a:r>
            <a:endParaRPr lang="en-US" dirty="0"/>
          </a:p>
        </p:txBody>
      </p:sp>
      <p:sp>
        <p:nvSpPr>
          <p:cNvPr id="16" name="Text 13"/>
          <p:cNvSpPr txBox="1"/>
          <p:nvPr/>
        </p:nvSpPr>
        <p:spPr>
          <a:xfrm>
            <a:off x="4541520" y="4617720"/>
            <a:ext cx="6614160" cy="1188720"/>
          </a:xfrm>
          <a:prstGeom prst="rect">
            <a:avLst/>
          </a:prstGeom>
          <a:noFill/>
          <a:ln/>
        </p:spPr>
        <p:txBody>
          <a:bodyPr wrap="square" lIns="0" tIns="0" rIns="0" bIns="0" rtlCol="0" anchor="ctr"/>
          <a:lstStyle/>
          <a:p>
            <a:pPr marL="0" indent="0">
              <a:buNone/>
            </a:pPr>
            <a:r>
              <a:rPr lang="en-US" dirty="0">
                <a:solidFill>
                  <a:srgbClr val="5F5256"/>
                </a:solidFill>
                <a:latin typeface="Calibri" pitchFamily="34" charset="0"/>
                <a:ea typeface="Calibri" pitchFamily="34" charset="-122"/>
                <a:cs typeface="Calibri" pitchFamily="34" charset="-120"/>
              </a:rPr>
              <a:t>"Associated with," never "reduces" or "causes." LLM summaries often slip into causal language.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ECEE"/>
        </a:solidFill>
        <a:effectLst/>
      </p:bgPr>
    </p:bg>
    <p:spTree>
      <p:nvGrpSpPr>
        <p:cNvPr id="1" name=""/>
        <p:cNvGrpSpPr/>
        <p:nvPr/>
      </p:nvGrpSpPr>
      <p:grpSpPr>
        <a:xfrm>
          <a:off x="0" y="0"/>
          <a:ext cx="0" cy="0"/>
          <a:chOff x="0" y="0"/>
          <a:chExt cx="0" cy="0"/>
        </a:xfrm>
      </p:grpSpPr>
      <p:sp>
        <p:nvSpPr>
          <p:cNvPr id="3" name="Shape 0"/>
          <p:cNvSpPr/>
          <p:nvPr/>
        </p:nvSpPr>
        <p:spPr>
          <a:xfrm>
            <a:off x="0" y="0"/>
            <a:ext cx="155448" cy="6858000"/>
          </a:xfrm>
          <a:prstGeom prst="rect">
            <a:avLst/>
          </a:prstGeom>
          <a:solidFill>
            <a:srgbClr val="A51C30"/>
          </a:solidFill>
          <a:ln w="12700">
            <a:solidFill>
              <a:srgbClr val="A51C30"/>
            </a:solidFill>
            <a:prstDash val="solid"/>
          </a:ln>
        </p:spPr>
        <p:txBody>
          <a:bodyPr/>
          <a:lstStyle/>
          <a:p>
            <a:endParaRPr lang="en-US"/>
          </a:p>
        </p:txBody>
      </p:sp>
      <p:sp>
        <p:nvSpPr>
          <p:cNvPr id="4" name="Text 1"/>
          <p:cNvSpPr txBox="1"/>
          <p:nvPr/>
        </p:nvSpPr>
        <p:spPr>
          <a:xfrm>
            <a:off x="1097280" y="2011680"/>
            <a:ext cx="10058400" cy="320040"/>
          </a:xfrm>
          <a:prstGeom prst="rect">
            <a:avLst/>
          </a:prstGeom>
          <a:noFill/>
          <a:ln/>
        </p:spPr>
        <p:txBody>
          <a:bodyPr wrap="square" lIns="0" tIns="0" rIns="0" bIns="0" rtlCol="0" anchor="t"/>
          <a:lstStyle/>
          <a:p>
            <a:pPr marL="0" indent="0">
              <a:buNone/>
            </a:pPr>
            <a:r>
              <a:rPr lang="en-US" sz="1400" b="1" kern="0" spc="300" dirty="0">
                <a:solidFill>
                  <a:srgbClr val="A51C30"/>
                </a:solidFill>
                <a:latin typeface="Calibri" pitchFamily="34" charset="0"/>
                <a:ea typeface="Calibri" pitchFamily="34" charset="-122"/>
                <a:cs typeface="Calibri" pitchFamily="34" charset="-120"/>
              </a:rPr>
              <a:t>PART 4 · LIVE DEMO</a:t>
            </a:r>
            <a:endParaRPr lang="en-US" sz="1400" dirty="0"/>
          </a:p>
        </p:txBody>
      </p:sp>
      <p:sp>
        <p:nvSpPr>
          <p:cNvPr id="5" name="Text 2"/>
          <p:cNvSpPr txBox="1"/>
          <p:nvPr/>
        </p:nvSpPr>
        <p:spPr>
          <a:xfrm>
            <a:off x="1097280" y="2423160"/>
            <a:ext cx="10332720" cy="1828800"/>
          </a:xfrm>
          <a:prstGeom prst="rect">
            <a:avLst/>
          </a:prstGeom>
          <a:noFill/>
          <a:ln/>
        </p:spPr>
        <p:txBody>
          <a:bodyPr wrap="square" lIns="0" tIns="0" rIns="0" bIns="0" rtlCol="0" anchor="t"/>
          <a:lstStyle/>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Demo 2: you can't</a:t>
            </a:r>
            <a:endParaRPr lang="en-US" sz="5200" dirty="0"/>
          </a:p>
          <a:p>
            <a:pPr marL="0" indent="0">
              <a:lnSpc>
                <a:spcPct val="95000"/>
              </a:lnSpc>
              <a:buNone/>
            </a:pPr>
            <a:r>
              <a:rPr lang="en-US" sz="5200" b="1" dirty="0">
                <a:solidFill>
                  <a:srgbClr val="A51C30"/>
                </a:solidFill>
                <a:latin typeface="Cambria" pitchFamily="34" charset="0"/>
                <a:ea typeface="Cambria" pitchFamily="34" charset="-122"/>
                <a:cs typeface="Cambria" pitchFamily="34" charset="-120"/>
              </a:rPr>
              <a:t>upload the data</a:t>
            </a:r>
            <a:endParaRPr lang="en-US" sz="5200" dirty="0"/>
          </a:p>
        </p:txBody>
      </p:sp>
      <p:sp>
        <p:nvSpPr>
          <p:cNvPr id="6" name="Text 3"/>
          <p:cNvSpPr txBox="1"/>
          <p:nvPr/>
        </p:nvSpPr>
        <p:spPr>
          <a:xfrm>
            <a:off x="1097280" y="4434840"/>
            <a:ext cx="10058400" cy="457200"/>
          </a:xfrm>
          <a:prstGeom prst="rect">
            <a:avLst/>
          </a:prstGeom>
          <a:noFill/>
          <a:ln/>
        </p:spPr>
        <p:txBody>
          <a:bodyPr wrap="square" lIns="0" tIns="0" rIns="0" bIns="0" rtlCol="0" anchor="t"/>
          <a:lstStyle/>
          <a:p>
            <a:pPr marL="0" indent="0">
              <a:buNone/>
            </a:pPr>
            <a:r>
              <a:rPr lang="en-US" sz="1800" dirty="0">
                <a:solidFill>
                  <a:srgbClr val="5F5256"/>
                </a:solidFill>
                <a:latin typeface="Calibri" pitchFamily="34" charset="0"/>
                <a:ea typeface="Calibri" pitchFamily="34" charset="-122"/>
                <a:cs typeface="Calibri" pitchFamily="34" charset="-120"/>
              </a:rPr>
              <a:t>Same analysis. Pretend it's an EHR extract with PHI.</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STEP 2 · PROTECT</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An approved tool is not an approved use</a:t>
            </a:r>
            <a:endParaRPr lang="en-US" sz="3200" dirty="0"/>
          </a:p>
        </p:txBody>
      </p:sp>
      <p:sp>
        <p:nvSpPr>
          <p:cNvPr id="5" name="Shape 2"/>
          <p:cNvSpPr/>
          <p:nvPr/>
        </p:nvSpPr>
        <p:spPr>
          <a:xfrm>
            <a:off x="777240" y="1874520"/>
            <a:ext cx="5175504" cy="3246120"/>
          </a:xfrm>
          <a:prstGeom prst="roundRect">
            <a:avLst>
              <a:gd name="adj" fmla="val 3380"/>
            </a:avLst>
          </a:prstGeom>
          <a:solidFill>
            <a:srgbClr val="A51C30"/>
          </a:solidFill>
          <a:ln w="9525">
            <a:solidFill>
              <a:srgbClr val="A51C30"/>
            </a:solidFill>
            <a:prstDash val="solid"/>
          </a:ln>
        </p:spPr>
        <p:txBody>
          <a:bodyPr/>
          <a:lstStyle/>
          <a:p>
            <a:endParaRPr lang="en-US"/>
          </a:p>
        </p:txBody>
      </p:sp>
      <p:sp>
        <p:nvSpPr>
          <p:cNvPr id="6" name="Shape 3"/>
          <p:cNvSpPr/>
          <p:nvPr/>
        </p:nvSpPr>
        <p:spPr>
          <a:xfrm>
            <a:off x="777240" y="1938528"/>
            <a:ext cx="5175504" cy="3182112"/>
          </a:xfrm>
          <a:prstGeom prst="roundRect">
            <a:avLst>
              <a:gd name="adj" fmla="val 3448"/>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97280" y="2194560"/>
            <a:ext cx="4572000" cy="45720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Keep out of the chat</a:t>
            </a:r>
            <a:endParaRPr lang="en-US" sz="2400" dirty="0"/>
          </a:p>
        </p:txBody>
      </p:sp>
      <p:sp>
        <p:nvSpPr>
          <p:cNvPr id="8" name="Text 5"/>
          <p:cNvSpPr txBox="1"/>
          <p:nvPr/>
        </p:nvSpPr>
        <p:spPr>
          <a:xfrm>
            <a:off x="1097280" y="2743200"/>
            <a:ext cx="4572000" cy="219456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Records: rows, even "just the first 5"</a:t>
            </a:r>
            <a:endParaRPr lang="en-US" sz="2000" dirty="0"/>
          </a:p>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Identifiers, dates, small cells</a:t>
            </a:r>
            <a:endParaRPr lang="en-US" sz="2000" dirty="0"/>
          </a:p>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Anything your DUA or IRB protocol limits</a:t>
            </a:r>
            <a:endParaRPr lang="en-US" sz="2000" dirty="0"/>
          </a:p>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Data above the tool's approved level</a:t>
            </a:r>
            <a:endParaRPr lang="en-US" sz="2000" dirty="0"/>
          </a:p>
        </p:txBody>
      </p:sp>
      <p:sp>
        <p:nvSpPr>
          <p:cNvPr id="9" name="Shape 6"/>
          <p:cNvSpPr/>
          <p:nvPr/>
        </p:nvSpPr>
        <p:spPr>
          <a:xfrm>
            <a:off x="6236208" y="1874520"/>
            <a:ext cx="5175504" cy="3246120"/>
          </a:xfrm>
          <a:prstGeom prst="roundRect">
            <a:avLst>
              <a:gd name="adj" fmla="val 3380"/>
            </a:avLst>
          </a:prstGeom>
          <a:solidFill>
            <a:srgbClr val="4A6272"/>
          </a:solidFill>
          <a:ln w="9525">
            <a:solidFill>
              <a:srgbClr val="4A6272"/>
            </a:solidFill>
            <a:prstDash val="solid"/>
          </a:ln>
        </p:spPr>
        <p:txBody>
          <a:bodyPr/>
          <a:lstStyle/>
          <a:p>
            <a:endParaRPr lang="en-US"/>
          </a:p>
        </p:txBody>
      </p:sp>
      <p:sp>
        <p:nvSpPr>
          <p:cNvPr id="10" name="Shape 7"/>
          <p:cNvSpPr/>
          <p:nvPr/>
        </p:nvSpPr>
        <p:spPr>
          <a:xfrm>
            <a:off x="6236208" y="1938528"/>
            <a:ext cx="5175504" cy="3182112"/>
          </a:xfrm>
          <a:prstGeom prst="roundRect">
            <a:avLst>
              <a:gd name="adj" fmla="val 3448"/>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6556248" y="2194560"/>
            <a:ext cx="4572000" cy="457200"/>
          </a:xfrm>
          <a:prstGeom prst="rect">
            <a:avLst/>
          </a:prstGeom>
          <a:noFill/>
          <a:ln/>
        </p:spPr>
        <p:txBody>
          <a:bodyPr wrap="square" lIns="0" tIns="0" rIns="0" bIns="0" rtlCol="0" anchor="t"/>
          <a:lstStyle/>
          <a:p>
            <a:pPr marL="0" indent="0">
              <a:buNone/>
            </a:pPr>
            <a:r>
              <a:rPr lang="en-US" sz="2400" b="1" dirty="0">
                <a:solidFill>
                  <a:srgbClr val="4A6272"/>
                </a:solidFill>
                <a:latin typeface="Calibri" pitchFamily="34" charset="0"/>
                <a:ea typeface="Calibri" pitchFamily="34" charset="-122"/>
                <a:cs typeface="Calibri" pitchFamily="34" charset="-120"/>
              </a:rPr>
              <a:t>Share instead</a:t>
            </a:r>
            <a:endParaRPr lang="en-US" sz="2400" dirty="0"/>
          </a:p>
        </p:txBody>
      </p:sp>
      <p:sp>
        <p:nvSpPr>
          <p:cNvPr id="12" name="Text 9"/>
          <p:cNvSpPr txBox="1"/>
          <p:nvPr/>
        </p:nvSpPr>
        <p:spPr>
          <a:xfrm>
            <a:off x="6556248" y="2743200"/>
            <a:ext cx="4572000" cy="219456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The codebook</a:t>
            </a:r>
            <a:endParaRPr lang="en-US" sz="2000" dirty="0"/>
          </a:p>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Column names and types (str())</a:t>
            </a:r>
            <a:endParaRPr lang="en-US" sz="2000" dirty="0"/>
          </a:p>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Coding rules: levels, missing codes</a:t>
            </a:r>
            <a:endParaRPr lang="en-US" sz="2000" dirty="0"/>
          </a:p>
          <a:p>
            <a:pPr marL="342900" indent="-342900">
              <a:spcAft>
                <a:spcPts val="600"/>
              </a:spcAft>
              <a:buSzPct val="100000"/>
              <a:buChar char="•"/>
            </a:pPr>
            <a:r>
              <a:rPr lang="en-US" sz="2000" dirty="0">
                <a:solidFill>
                  <a:srgbClr val="5F5256"/>
                </a:solidFill>
                <a:latin typeface="Calibri" pitchFamily="34" charset="0"/>
                <a:ea typeface="Calibri" pitchFamily="34" charset="-122"/>
                <a:cs typeface="Calibri" pitchFamily="34" charset="-120"/>
              </a:rPr>
              <a:t>A fake dataset with the same shape</a:t>
            </a:r>
            <a:endParaRPr lang="en-US" sz="2000" dirty="0"/>
          </a:p>
        </p:txBody>
      </p:sp>
      <p:sp>
        <p:nvSpPr>
          <p:cNvPr id="13" name="Text 10"/>
          <p:cNvSpPr txBox="1"/>
          <p:nvPr/>
        </p:nvSpPr>
        <p:spPr>
          <a:xfrm>
            <a:off x="777240" y="5394960"/>
            <a:ext cx="10637215" cy="640080"/>
          </a:xfrm>
          <a:prstGeom prst="rect">
            <a:avLst/>
          </a:prstGeom>
          <a:noFill/>
          <a:ln/>
        </p:spPr>
        <p:txBody>
          <a:bodyPr wrap="square" lIns="0" tIns="0" rIns="0" bIns="0" rtlCol="0" anchor="t"/>
          <a:lstStyle/>
          <a:p>
            <a:pPr marL="0" indent="0">
              <a:buNone/>
            </a:pPr>
            <a:r>
              <a:rPr lang="en-US" sz="2000" dirty="0">
                <a:solidFill>
                  <a:srgbClr val="5F5256"/>
                </a:solidFill>
                <a:latin typeface="Calibri" pitchFamily="34" charset="0"/>
                <a:ea typeface="Calibri" pitchFamily="34" charset="-122"/>
                <a:cs typeface="Calibri" pitchFamily="34" charset="-120"/>
              </a:rPr>
              <a:t>Check the data level at privsec.harvard.edu/classify-risk. The Sandbox and Edu models are approved up to Level 3, but a DUA can be stricter.</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THE NO-UPLOAD WORKFLOW</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Build on fake data, run on real data</a:t>
            </a:r>
            <a:endParaRPr lang="en-US" sz="3200" dirty="0"/>
          </a:p>
        </p:txBody>
      </p:sp>
      <p:sp>
        <p:nvSpPr>
          <p:cNvPr id="5" name="Shape 2"/>
          <p:cNvSpPr/>
          <p:nvPr/>
        </p:nvSpPr>
        <p:spPr>
          <a:xfrm>
            <a:off x="777240" y="2194560"/>
            <a:ext cx="2331720" cy="2377440"/>
          </a:xfrm>
          <a:prstGeom prst="roundRect">
            <a:avLst>
              <a:gd name="adj" fmla="val 4706"/>
            </a:avLst>
          </a:prstGeom>
          <a:solidFill>
            <a:srgbClr val="A51C30"/>
          </a:solidFill>
          <a:ln w="9525">
            <a:solidFill>
              <a:srgbClr val="A51C30"/>
            </a:solidFill>
            <a:prstDash val="solid"/>
          </a:ln>
        </p:spPr>
        <p:txBody>
          <a:bodyPr/>
          <a:lstStyle/>
          <a:p>
            <a:endParaRPr lang="en-US"/>
          </a:p>
        </p:txBody>
      </p:sp>
      <p:sp>
        <p:nvSpPr>
          <p:cNvPr id="6" name="Shape 3"/>
          <p:cNvSpPr/>
          <p:nvPr/>
        </p:nvSpPr>
        <p:spPr>
          <a:xfrm>
            <a:off x="777240" y="2258568"/>
            <a:ext cx="2331720" cy="2313432"/>
          </a:xfrm>
          <a:prstGeom prst="roundRect">
            <a:avLst>
              <a:gd name="adj" fmla="val 4743"/>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05840" y="2487168"/>
            <a:ext cx="192024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1 · Describe</a:t>
            </a:r>
            <a:endParaRPr lang="en-US" sz="2400" dirty="0"/>
          </a:p>
        </p:txBody>
      </p:sp>
      <p:sp>
        <p:nvSpPr>
          <p:cNvPr id="8" name="Text 5"/>
          <p:cNvSpPr txBox="1"/>
          <p:nvPr/>
        </p:nvSpPr>
        <p:spPr>
          <a:xfrm>
            <a:off x="1005840" y="2971800"/>
            <a:ext cx="1920240" cy="1463040"/>
          </a:xfrm>
          <a:prstGeom prst="rect">
            <a:avLst/>
          </a:prstGeom>
          <a:noFill/>
          <a:ln/>
        </p:spPr>
        <p:txBody>
          <a:bodyPr wrap="square" lIns="0" tIns="0" rIns="0" bIns="0" rtlCol="0" anchor="t"/>
          <a:lstStyle/>
          <a:p>
            <a:pPr marL="0" indent="0" algn="ctr">
              <a:buNone/>
            </a:pPr>
            <a:r>
              <a:rPr lang="en-US" sz="2000" dirty="0">
                <a:solidFill>
                  <a:srgbClr val="5F5256"/>
                </a:solidFill>
                <a:latin typeface="Calibri" pitchFamily="34" charset="0"/>
                <a:ea typeface="Calibri" pitchFamily="34" charset="-122"/>
                <a:cs typeface="Calibri" pitchFamily="34" charset="-120"/>
              </a:rPr>
              <a:t>Paste the codebook, not the data</a:t>
            </a:r>
            <a:endParaRPr lang="en-US" sz="2000" dirty="0"/>
          </a:p>
        </p:txBody>
      </p:sp>
      <p:sp>
        <p:nvSpPr>
          <p:cNvPr id="9" name="Shape 6"/>
          <p:cNvSpPr/>
          <p:nvPr/>
        </p:nvSpPr>
        <p:spPr>
          <a:xfrm>
            <a:off x="3154680" y="3246120"/>
            <a:ext cx="310896" cy="237744"/>
          </a:xfrm>
          <a:prstGeom prst="rightArrow">
            <a:avLst/>
          </a:prstGeom>
          <a:solidFill>
            <a:srgbClr val="C98C96"/>
          </a:solidFill>
          <a:ln w="12700">
            <a:solidFill>
              <a:srgbClr val="C98C96"/>
            </a:solidFill>
            <a:prstDash val="solid"/>
          </a:ln>
        </p:spPr>
        <p:txBody>
          <a:bodyPr/>
          <a:lstStyle/>
          <a:p>
            <a:endParaRPr lang="en-US"/>
          </a:p>
        </p:txBody>
      </p:sp>
      <p:sp>
        <p:nvSpPr>
          <p:cNvPr id="10" name="Shape 7"/>
          <p:cNvSpPr/>
          <p:nvPr/>
        </p:nvSpPr>
        <p:spPr>
          <a:xfrm>
            <a:off x="3511296" y="2194560"/>
            <a:ext cx="2331720" cy="2377440"/>
          </a:xfrm>
          <a:prstGeom prst="roundRect">
            <a:avLst>
              <a:gd name="adj" fmla="val 4706"/>
            </a:avLst>
          </a:prstGeom>
          <a:solidFill>
            <a:srgbClr val="A51C30"/>
          </a:solidFill>
          <a:ln w="9525">
            <a:solidFill>
              <a:srgbClr val="A51C30"/>
            </a:solidFill>
            <a:prstDash val="solid"/>
          </a:ln>
        </p:spPr>
        <p:txBody>
          <a:bodyPr/>
          <a:lstStyle/>
          <a:p>
            <a:endParaRPr lang="en-US"/>
          </a:p>
        </p:txBody>
      </p:sp>
      <p:sp>
        <p:nvSpPr>
          <p:cNvPr id="11" name="Shape 8"/>
          <p:cNvSpPr/>
          <p:nvPr/>
        </p:nvSpPr>
        <p:spPr>
          <a:xfrm>
            <a:off x="3511296" y="2258568"/>
            <a:ext cx="2331720" cy="2313432"/>
          </a:xfrm>
          <a:prstGeom prst="roundRect">
            <a:avLst>
              <a:gd name="adj" fmla="val 4743"/>
            </a:avLst>
          </a:prstGeom>
          <a:solidFill>
            <a:srgbClr val="FFFFFF"/>
          </a:solidFill>
          <a:ln w="9525">
            <a:solidFill>
              <a:srgbClr val="E8D3D7"/>
            </a:solidFill>
            <a:prstDash val="solid"/>
          </a:ln>
        </p:spPr>
        <p:txBody>
          <a:bodyPr/>
          <a:lstStyle/>
          <a:p>
            <a:endParaRPr lang="en-US"/>
          </a:p>
        </p:txBody>
      </p:sp>
      <p:sp>
        <p:nvSpPr>
          <p:cNvPr id="12" name="Text 9"/>
          <p:cNvSpPr txBox="1"/>
          <p:nvPr/>
        </p:nvSpPr>
        <p:spPr>
          <a:xfrm>
            <a:off x="3739896" y="2487168"/>
            <a:ext cx="192024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2 · Fake it</a:t>
            </a:r>
            <a:endParaRPr lang="en-US" sz="2400" dirty="0"/>
          </a:p>
        </p:txBody>
      </p:sp>
      <p:sp>
        <p:nvSpPr>
          <p:cNvPr id="13" name="Text 10"/>
          <p:cNvSpPr txBox="1"/>
          <p:nvPr/>
        </p:nvSpPr>
        <p:spPr>
          <a:xfrm>
            <a:off x="3739896" y="2971800"/>
            <a:ext cx="1920240" cy="1463040"/>
          </a:xfrm>
          <a:prstGeom prst="rect">
            <a:avLst/>
          </a:prstGeom>
          <a:noFill/>
          <a:ln/>
        </p:spPr>
        <p:txBody>
          <a:bodyPr wrap="square" lIns="0" tIns="0" rIns="0" bIns="0" rtlCol="0" anchor="t"/>
          <a:lstStyle/>
          <a:p>
            <a:pPr marL="0" indent="0" algn="ctr">
              <a:buNone/>
            </a:pPr>
            <a:r>
              <a:rPr lang="en-US" sz="2000" dirty="0">
                <a:solidFill>
                  <a:srgbClr val="5F5256"/>
                </a:solidFill>
                <a:latin typeface="Calibri" pitchFamily="34" charset="0"/>
                <a:ea typeface="Calibri" pitchFamily="34" charset="-122"/>
                <a:cs typeface="Calibri" pitchFamily="34" charset="-120"/>
              </a:rPr>
              <a:t>Ask for a 50-row synthetic dataset with the same structure</a:t>
            </a:r>
            <a:endParaRPr lang="en-US" sz="2000" dirty="0"/>
          </a:p>
        </p:txBody>
      </p:sp>
      <p:sp>
        <p:nvSpPr>
          <p:cNvPr id="14" name="Shape 11"/>
          <p:cNvSpPr/>
          <p:nvPr/>
        </p:nvSpPr>
        <p:spPr>
          <a:xfrm>
            <a:off x="5888736" y="3246120"/>
            <a:ext cx="310896" cy="237744"/>
          </a:xfrm>
          <a:prstGeom prst="rightArrow">
            <a:avLst/>
          </a:prstGeom>
          <a:solidFill>
            <a:srgbClr val="C98C96"/>
          </a:solidFill>
          <a:ln w="12700">
            <a:solidFill>
              <a:srgbClr val="C98C96"/>
            </a:solidFill>
            <a:prstDash val="solid"/>
          </a:ln>
        </p:spPr>
        <p:txBody>
          <a:bodyPr/>
          <a:lstStyle/>
          <a:p>
            <a:endParaRPr lang="en-US"/>
          </a:p>
        </p:txBody>
      </p:sp>
      <p:sp>
        <p:nvSpPr>
          <p:cNvPr id="15" name="Shape 12"/>
          <p:cNvSpPr/>
          <p:nvPr/>
        </p:nvSpPr>
        <p:spPr>
          <a:xfrm>
            <a:off x="6245352" y="2194560"/>
            <a:ext cx="2331720" cy="2377440"/>
          </a:xfrm>
          <a:prstGeom prst="roundRect">
            <a:avLst>
              <a:gd name="adj" fmla="val 4706"/>
            </a:avLst>
          </a:prstGeom>
          <a:solidFill>
            <a:srgbClr val="A51C30"/>
          </a:solidFill>
          <a:ln w="9525">
            <a:solidFill>
              <a:srgbClr val="A51C30"/>
            </a:solidFill>
            <a:prstDash val="solid"/>
          </a:ln>
        </p:spPr>
        <p:txBody>
          <a:bodyPr/>
          <a:lstStyle/>
          <a:p>
            <a:endParaRPr lang="en-US"/>
          </a:p>
        </p:txBody>
      </p:sp>
      <p:sp>
        <p:nvSpPr>
          <p:cNvPr id="16" name="Shape 13"/>
          <p:cNvSpPr/>
          <p:nvPr/>
        </p:nvSpPr>
        <p:spPr>
          <a:xfrm>
            <a:off x="6245352" y="2258568"/>
            <a:ext cx="2331720" cy="2313432"/>
          </a:xfrm>
          <a:prstGeom prst="roundRect">
            <a:avLst>
              <a:gd name="adj" fmla="val 4743"/>
            </a:avLst>
          </a:prstGeom>
          <a:solidFill>
            <a:srgbClr val="FFFFFF"/>
          </a:solidFill>
          <a:ln w="9525">
            <a:solidFill>
              <a:srgbClr val="E8D3D7"/>
            </a:solidFill>
            <a:prstDash val="solid"/>
          </a:ln>
        </p:spPr>
        <p:txBody>
          <a:bodyPr/>
          <a:lstStyle/>
          <a:p>
            <a:endParaRPr lang="en-US"/>
          </a:p>
        </p:txBody>
      </p:sp>
      <p:sp>
        <p:nvSpPr>
          <p:cNvPr id="17" name="Text 14"/>
          <p:cNvSpPr txBox="1"/>
          <p:nvPr/>
        </p:nvSpPr>
        <p:spPr>
          <a:xfrm>
            <a:off x="6473952" y="2487168"/>
            <a:ext cx="192024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3 · Develop</a:t>
            </a:r>
            <a:endParaRPr lang="en-US" sz="2400" dirty="0"/>
          </a:p>
        </p:txBody>
      </p:sp>
      <p:sp>
        <p:nvSpPr>
          <p:cNvPr id="18" name="Text 15"/>
          <p:cNvSpPr txBox="1"/>
          <p:nvPr/>
        </p:nvSpPr>
        <p:spPr>
          <a:xfrm>
            <a:off x="6473952" y="2971800"/>
            <a:ext cx="1920240" cy="1463040"/>
          </a:xfrm>
          <a:prstGeom prst="rect">
            <a:avLst/>
          </a:prstGeom>
          <a:noFill/>
          <a:ln/>
        </p:spPr>
        <p:txBody>
          <a:bodyPr wrap="square" lIns="0" tIns="0" rIns="0" bIns="0" rtlCol="0" anchor="t"/>
          <a:lstStyle/>
          <a:p>
            <a:pPr marL="0" indent="0" algn="ctr">
              <a:buNone/>
            </a:pPr>
            <a:r>
              <a:rPr lang="en-US" sz="2000" dirty="0">
                <a:solidFill>
                  <a:srgbClr val="5F5256"/>
                </a:solidFill>
                <a:latin typeface="Calibri" pitchFamily="34" charset="0"/>
                <a:ea typeface="Calibri" pitchFamily="34" charset="-122"/>
                <a:cs typeface="Calibri" pitchFamily="34" charset="-120"/>
              </a:rPr>
              <a:t>Get the code working on the fake data</a:t>
            </a:r>
            <a:endParaRPr lang="en-US" sz="2000" dirty="0"/>
          </a:p>
        </p:txBody>
      </p:sp>
      <p:sp>
        <p:nvSpPr>
          <p:cNvPr id="19" name="Shape 16"/>
          <p:cNvSpPr/>
          <p:nvPr/>
        </p:nvSpPr>
        <p:spPr>
          <a:xfrm>
            <a:off x="8622792" y="3246120"/>
            <a:ext cx="310896" cy="237744"/>
          </a:xfrm>
          <a:prstGeom prst="rightArrow">
            <a:avLst/>
          </a:prstGeom>
          <a:solidFill>
            <a:srgbClr val="C98C96"/>
          </a:solidFill>
          <a:ln w="12700">
            <a:solidFill>
              <a:srgbClr val="C98C96"/>
            </a:solidFill>
            <a:prstDash val="solid"/>
          </a:ln>
        </p:spPr>
        <p:txBody>
          <a:bodyPr/>
          <a:lstStyle/>
          <a:p>
            <a:endParaRPr lang="en-US"/>
          </a:p>
        </p:txBody>
      </p:sp>
      <p:sp>
        <p:nvSpPr>
          <p:cNvPr id="20" name="Shape 17"/>
          <p:cNvSpPr/>
          <p:nvPr/>
        </p:nvSpPr>
        <p:spPr>
          <a:xfrm>
            <a:off x="8979408" y="2194560"/>
            <a:ext cx="2331720" cy="2377440"/>
          </a:xfrm>
          <a:prstGeom prst="roundRect">
            <a:avLst>
              <a:gd name="adj" fmla="val 4706"/>
            </a:avLst>
          </a:prstGeom>
          <a:solidFill>
            <a:srgbClr val="A51C30"/>
          </a:solidFill>
          <a:ln w="9525">
            <a:solidFill>
              <a:srgbClr val="A51C30"/>
            </a:solidFill>
            <a:prstDash val="solid"/>
          </a:ln>
        </p:spPr>
        <p:txBody>
          <a:bodyPr/>
          <a:lstStyle/>
          <a:p>
            <a:endParaRPr lang="en-US"/>
          </a:p>
        </p:txBody>
      </p:sp>
      <p:sp>
        <p:nvSpPr>
          <p:cNvPr id="21" name="Shape 18"/>
          <p:cNvSpPr/>
          <p:nvPr/>
        </p:nvSpPr>
        <p:spPr>
          <a:xfrm>
            <a:off x="8979408" y="2258568"/>
            <a:ext cx="2331720" cy="2313432"/>
          </a:xfrm>
          <a:prstGeom prst="roundRect">
            <a:avLst>
              <a:gd name="adj" fmla="val 4743"/>
            </a:avLst>
          </a:prstGeom>
          <a:solidFill>
            <a:srgbClr val="FFFFFF"/>
          </a:solidFill>
          <a:ln w="9525">
            <a:solidFill>
              <a:srgbClr val="E8D3D7"/>
            </a:solidFill>
            <a:prstDash val="solid"/>
          </a:ln>
        </p:spPr>
        <p:txBody>
          <a:bodyPr/>
          <a:lstStyle/>
          <a:p>
            <a:endParaRPr lang="en-US"/>
          </a:p>
        </p:txBody>
      </p:sp>
      <p:sp>
        <p:nvSpPr>
          <p:cNvPr id="22" name="Text 19"/>
          <p:cNvSpPr txBox="1"/>
          <p:nvPr/>
        </p:nvSpPr>
        <p:spPr>
          <a:xfrm>
            <a:off x="9208008" y="2487168"/>
            <a:ext cx="1920240"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4 · Run</a:t>
            </a:r>
            <a:endParaRPr lang="en-US" sz="2400" dirty="0"/>
          </a:p>
        </p:txBody>
      </p:sp>
      <p:sp>
        <p:nvSpPr>
          <p:cNvPr id="23" name="Text 20"/>
          <p:cNvSpPr txBox="1"/>
          <p:nvPr/>
        </p:nvSpPr>
        <p:spPr>
          <a:xfrm>
            <a:off x="9208008" y="2971800"/>
            <a:ext cx="1920240" cy="1463040"/>
          </a:xfrm>
          <a:prstGeom prst="rect">
            <a:avLst/>
          </a:prstGeom>
          <a:noFill/>
          <a:ln/>
        </p:spPr>
        <p:txBody>
          <a:bodyPr wrap="square" lIns="0" tIns="0" rIns="0" bIns="0" rtlCol="0" anchor="t"/>
          <a:lstStyle/>
          <a:p>
            <a:pPr marL="0" indent="0" algn="ctr">
              <a:buNone/>
            </a:pPr>
            <a:r>
              <a:rPr lang="en-US" sz="2000" dirty="0">
                <a:solidFill>
                  <a:srgbClr val="5F5256"/>
                </a:solidFill>
                <a:latin typeface="Calibri" pitchFamily="34" charset="0"/>
                <a:ea typeface="Calibri" pitchFamily="34" charset="-122"/>
                <a:cs typeface="Calibri" pitchFamily="34" charset="-120"/>
              </a:rPr>
              <a:t>On the real data, in the approved environment</a:t>
            </a:r>
            <a:endParaRPr lang="en-US" sz="2000" dirty="0"/>
          </a:p>
        </p:txBody>
      </p:sp>
      <p:sp>
        <p:nvSpPr>
          <p:cNvPr id="24" name="Text 21"/>
          <p:cNvSpPr txBox="1"/>
          <p:nvPr/>
        </p:nvSpPr>
        <p:spPr>
          <a:xfrm>
            <a:off x="777240" y="5029200"/>
            <a:ext cx="10637215" cy="45720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Prompt template: </a:t>
            </a:r>
            <a:r>
              <a:rPr lang="en-US" b="1" dirty="0">
                <a:solidFill>
                  <a:srgbClr val="A51C30"/>
                </a:solidFill>
                <a:latin typeface="Calibri" pitchFamily="34" charset="0"/>
                <a:ea typeface="Calibri" pitchFamily="34" charset="-122"/>
                <a:cs typeface="Calibri" pitchFamily="34" charset="-120"/>
              </a:rPr>
              <a:t>P9</a:t>
            </a:r>
            <a:r>
              <a:rPr lang="en-US" dirty="0">
                <a:solidFill>
                  <a:srgbClr val="5F5256"/>
                </a:solidFill>
                <a:latin typeface="Calibri" pitchFamily="34" charset="0"/>
                <a:ea typeface="Calibri" pitchFamily="34" charset="-122"/>
                <a:cs typeface="Calibri" pitchFamily="34" charset="-120"/>
              </a:rPr>
              <a:t> in section 3 of your Student Guide. Codebook: section 4.</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PAIRS · STUDENT GUIDE, SECTION 5</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Spot the bug: all three have one</a:t>
            </a:r>
            <a:endParaRPr lang="en-US" sz="3200" dirty="0"/>
          </a:p>
        </p:txBody>
      </p:sp>
      <p:sp>
        <p:nvSpPr>
          <p:cNvPr id="5" name="Shape 2"/>
          <p:cNvSpPr/>
          <p:nvPr/>
        </p:nvSpPr>
        <p:spPr>
          <a:xfrm>
            <a:off x="777240" y="1874520"/>
            <a:ext cx="3410712" cy="3017520"/>
          </a:xfrm>
          <a:prstGeom prst="roundRect">
            <a:avLst>
              <a:gd name="adj" fmla="val 3636"/>
            </a:avLst>
          </a:prstGeom>
          <a:solidFill>
            <a:srgbClr val="FFFFFF"/>
          </a:solidFill>
          <a:ln w="9525">
            <a:solidFill>
              <a:srgbClr val="E8D3D7"/>
            </a:solidFill>
            <a:prstDash val="solid"/>
          </a:ln>
        </p:spPr>
        <p:txBody>
          <a:bodyPr/>
          <a:lstStyle/>
          <a:p>
            <a:endParaRPr lang="en-US"/>
          </a:p>
        </p:txBody>
      </p:sp>
      <p:sp>
        <p:nvSpPr>
          <p:cNvPr id="6" name="Text 3"/>
          <p:cNvSpPr txBox="1"/>
          <p:nvPr/>
        </p:nvSpPr>
        <p:spPr>
          <a:xfrm>
            <a:off x="1033272" y="2103120"/>
            <a:ext cx="2898648"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A · The scatterplot</a:t>
            </a:r>
            <a:endParaRPr lang="en-US" sz="2400" dirty="0"/>
          </a:p>
        </p:txBody>
      </p:sp>
      <p:sp>
        <p:nvSpPr>
          <p:cNvPr id="8" name="Text 5"/>
          <p:cNvSpPr txBox="1"/>
          <p:nvPr/>
        </p:nvSpPr>
        <p:spPr>
          <a:xfrm>
            <a:off x="904240" y="2770632"/>
            <a:ext cx="3192272" cy="1892808"/>
          </a:xfrm>
          <a:prstGeom prst="rect">
            <a:avLst/>
          </a:prstGeom>
          <a:noFill/>
          <a:ln/>
        </p:spPr>
        <p:txBody>
          <a:bodyPr wrap="square" lIns="0" tIns="0" rIns="0" bIns="0" rtlCol="0" anchor="t"/>
          <a:lstStyle/>
          <a:p>
            <a:pPr marL="0" indent="0">
              <a:buNone/>
            </a:pPr>
            <a:r>
              <a:rPr lang="en-US" sz="1400" dirty="0">
                <a:solidFill>
                  <a:srgbClr val="2A1E21"/>
                </a:solidFill>
                <a:latin typeface="Courier New" pitchFamily="34" charset="0"/>
                <a:ea typeface="Courier New" pitchFamily="34" charset="-122"/>
                <a:cs typeface="Courier New" pitchFamily="34" charset="-120"/>
              </a:rPr>
              <a:t>dat %&gt;%</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ggplot(aes(bmi, sbp)) %&gt;%</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geom_point() %&gt;%</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geom_smooth(method = "lm")</a:t>
            </a:r>
            <a:endParaRPr lang="en-US" sz="1400" dirty="0"/>
          </a:p>
        </p:txBody>
      </p:sp>
      <p:sp>
        <p:nvSpPr>
          <p:cNvPr id="9" name="Shape 6"/>
          <p:cNvSpPr/>
          <p:nvPr/>
        </p:nvSpPr>
        <p:spPr>
          <a:xfrm>
            <a:off x="4370832" y="1874520"/>
            <a:ext cx="3410712" cy="3017520"/>
          </a:xfrm>
          <a:prstGeom prst="roundRect">
            <a:avLst>
              <a:gd name="adj" fmla="val 3636"/>
            </a:avLst>
          </a:prstGeom>
          <a:solidFill>
            <a:srgbClr val="FFFFFF"/>
          </a:solidFill>
          <a:ln w="9525">
            <a:solidFill>
              <a:srgbClr val="E8D3D7"/>
            </a:solidFill>
            <a:prstDash val="solid"/>
          </a:ln>
        </p:spPr>
        <p:txBody>
          <a:bodyPr/>
          <a:lstStyle/>
          <a:p>
            <a:endParaRPr lang="en-US"/>
          </a:p>
        </p:txBody>
      </p:sp>
      <p:sp>
        <p:nvSpPr>
          <p:cNvPr id="10" name="Text 7"/>
          <p:cNvSpPr txBox="1"/>
          <p:nvPr/>
        </p:nvSpPr>
        <p:spPr>
          <a:xfrm>
            <a:off x="4626864" y="2103120"/>
            <a:ext cx="2898648"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B · The regression</a:t>
            </a:r>
            <a:endParaRPr lang="en-US" sz="2400" dirty="0"/>
          </a:p>
        </p:txBody>
      </p:sp>
      <p:sp>
        <p:nvSpPr>
          <p:cNvPr id="12" name="Text 9"/>
          <p:cNvSpPr txBox="1"/>
          <p:nvPr/>
        </p:nvSpPr>
        <p:spPr>
          <a:xfrm>
            <a:off x="4564380" y="2770632"/>
            <a:ext cx="3063240" cy="1828800"/>
          </a:xfrm>
          <a:prstGeom prst="rect">
            <a:avLst/>
          </a:prstGeom>
          <a:noFill/>
          <a:ln/>
        </p:spPr>
        <p:txBody>
          <a:bodyPr wrap="square" lIns="0" tIns="0" rIns="0" bIns="0" rtlCol="0" anchor="t"/>
          <a:lstStyle/>
          <a:p>
            <a:pPr marL="0" indent="0">
              <a:buNone/>
            </a:pPr>
            <a:r>
              <a:rPr lang="en-US" sz="1400" dirty="0">
                <a:solidFill>
                  <a:srgbClr val="2A1E21"/>
                </a:solidFill>
                <a:latin typeface="Courier New" pitchFamily="34" charset="0"/>
                <a:ea typeface="Courier New" pitchFamily="34" charset="-122"/>
                <a:cs typeface="Courier New" pitchFamily="34" charset="-120"/>
              </a:rPr>
              <a:t>lm(sbp ~ bmi + age +</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sex + race,</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data = dat)</a:t>
            </a:r>
            <a:endParaRPr lang="en-US" sz="1400" dirty="0"/>
          </a:p>
        </p:txBody>
      </p:sp>
      <p:sp>
        <p:nvSpPr>
          <p:cNvPr id="13" name="Shape 10"/>
          <p:cNvSpPr/>
          <p:nvPr/>
        </p:nvSpPr>
        <p:spPr>
          <a:xfrm>
            <a:off x="7964424" y="1874520"/>
            <a:ext cx="3410712" cy="3017520"/>
          </a:xfrm>
          <a:prstGeom prst="roundRect">
            <a:avLst>
              <a:gd name="adj" fmla="val 3636"/>
            </a:avLst>
          </a:prstGeom>
          <a:solidFill>
            <a:srgbClr val="FFFFFF"/>
          </a:solidFill>
          <a:ln w="9525">
            <a:solidFill>
              <a:srgbClr val="E8D3D7"/>
            </a:solidFill>
            <a:prstDash val="solid"/>
          </a:ln>
        </p:spPr>
        <p:txBody>
          <a:bodyPr/>
          <a:lstStyle/>
          <a:p>
            <a:endParaRPr lang="en-US"/>
          </a:p>
        </p:txBody>
      </p:sp>
      <p:sp>
        <p:nvSpPr>
          <p:cNvPr id="14" name="Text 11"/>
          <p:cNvSpPr txBox="1"/>
          <p:nvPr/>
        </p:nvSpPr>
        <p:spPr>
          <a:xfrm>
            <a:off x="8220456" y="2103120"/>
            <a:ext cx="2898648" cy="41148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C · Mean BP in women</a:t>
            </a:r>
            <a:endParaRPr lang="en-US" sz="2400" dirty="0"/>
          </a:p>
        </p:txBody>
      </p:sp>
      <p:sp>
        <p:nvSpPr>
          <p:cNvPr id="16" name="Text 13"/>
          <p:cNvSpPr txBox="1"/>
          <p:nvPr/>
        </p:nvSpPr>
        <p:spPr>
          <a:xfrm>
            <a:off x="8072780" y="2767584"/>
            <a:ext cx="3193999" cy="1828800"/>
          </a:xfrm>
          <a:prstGeom prst="rect">
            <a:avLst/>
          </a:prstGeom>
          <a:noFill/>
          <a:ln/>
        </p:spPr>
        <p:txBody>
          <a:bodyPr wrap="square" lIns="0" tIns="0" rIns="0" bIns="0" rtlCol="0" anchor="t"/>
          <a:lstStyle/>
          <a:p>
            <a:pPr marL="0" indent="0">
              <a:buNone/>
            </a:pPr>
            <a:r>
              <a:rPr lang="en-US" sz="1400" dirty="0" err="1">
                <a:solidFill>
                  <a:srgbClr val="2A1E21"/>
                </a:solidFill>
                <a:latin typeface="Courier New" pitchFamily="34" charset="0"/>
                <a:ea typeface="Courier New" pitchFamily="34" charset="-122"/>
                <a:cs typeface="Courier New" pitchFamily="34" charset="-120"/>
              </a:rPr>
              <a:t>dat</a:t>
            </a:r>
            <a:r>
              <a:rPr lang="en-US" sz="1400" dirty="0">
                <a:solidFill>
                  <a:srgbClr val="2A1E21"/>
                </a:solidFill>
                <a:latin typeface="Courier New" pitchFamily="34" charset="0"/>
                <a:ea typeface="Courier New" pitchFamily="34" charset="-122"/>
                <a:cs typeface="Courier New" pitchFamily="34" charset="-120"/>
              </a:rPr>
              <a:t> %&gt;%</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filter(sex == "Female") %&gt;%</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summarize(n = n(),</a:t>
            </a:r>
            <a:endParaRPr lang="en-US" sz="1400" dirty="0"/>
          </a:p>
          <a:p>
            <a:pPr marL="0" indent="0">
              <a:buNone/>
            </a:pPr>
            <a:r>
              <a:rPr lang="en-US" sz="1400" dirty="0">
                <a:solidFill>
                  <a:srgbClr val="2A1E21"/>
                </a:solidFill>
                <a:latin typeface="Courier New" pitchFamily="34" charset="0"/>
                <a:ea typeface="Courier New" pitchFamily="34" charset="-122"/>
                <a:cs typeface="Courier New" pitchFamily="34" charset="-120"/>
              </a:rPr>
              <a:t>    mean(sbp, na.rm = TRUE))</a:t>
            </a:r>
            <a:endParaRPr lang="en-US" sz="1400" dirty="0"/>
          </a:p>
        </p:txBody>
      </p:sp>
      <p:sp>
        <p:nvSpPr>
          <p:cNvPr id="17" name="Text 14"/>
          <p:cNvSpPr txBox="1"/>
          <p:nvPr/>
        </p:nvSpPr>
        <p:spPr>
          <a:xfrm>
            <a:off x="777240" y="5212080"/>
            <a:ext cx="10637215" cy="548640"/>
          </a:xfrm>
          <a:prstGeom prst="rect">
            <a:avLst/>
          </a:prstGeom>
          <a:noFill/>
          <a:ln/>
        </p:spPr>
        <p:txBody>
          <a:bodyPr wrap="square" lIns="0" tIns="0" rIns="0" bIns="0" rtlCol="0" anchor="t"/>
          <a:lstStyle/>
          <a:p>
            <a:pPr marL="0" indent="0">
              <a:buNone/>
            </a:pPr>
            <a:r>
              <a:rPr lang="en-US" sz="1600" dirty="0">
                <a:solidFill>
                  <a:srgbClr val="5F5256"/>
                </a:solidFill>
                <a:latin typeface="Calibri" pitchFamily="34" charset="0"/>
                <a:ea typeface="Calibri" pitchFamily="34" charset="-122"/>
                <a:cs typeface="Calibri" pitchFamily="34" charset="-120"/>
              </a:rPr>
              <a:t>For each: Did R complain? Is the result plausible? What would you change, </a:t>
            </a:r>
            <a:r>
              <a:rPr lang="en-US" sz="1600" b="1" dirty="0">
                <a:solidFill>
                  <a:srgbClr val="5F5256"/>
                </a:solidFill>
                <a:latin typeface="Calibri" pitchFamily="34" charset="0"/>
                <a:ea typeface="Calibri" pitchFamily="34" charset="-122"/>
                <a:cs typeface="Calibri" pitchFamily="34" charset="-120"/>
              </a:rPr>
              <a:t>in the code or in the prompt</a:t>
            </a:r>
            <a:r>
              <a:rPr lang="en-US" sz="1600" dirty="0">
                <a:solidFill>
                  <a:srgbClr val="5F5256"/>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BACK TO THE OPENING SLIDE</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One mis-coded variable changed the story</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4124913352"/>
              </p:ext>
            </p:extLst>
          </p:nvPr>
        </p:nvGraphicFramePr>
        <p:xfrm>
          <a:off x="777240" y="1874520"/>
          <a:ext cx="10634472" cy="2296160"/>
        </p:xfrm>
        <a:graphic>
          <a:graphicData uri="http://schemas.openxmlformats.org/drawingml/2006/table">
            <a:tbl>
              <a:tblPr/>
              <a:tblGrid>
                <a:gridCol w="25603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548640">
                <a:tc>
                  <a:txBody>
                    <a:bodyPr/>
                    <a:lstStyle/>
                    <a:p>
                      <a:pPr marL="0" indent="0">
                        <a:buNone/>
                      </a:pP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Race as a number (bug)</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Race as a category (correct)</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extLst>
                  <a:ext uri="{0D108BD9-81ED-4DB2-BD59-A6C34878D82A}">
                    <a16:rowId xmlns:a16="http://schemas.microsoft.com/office/drawing/2014/main" val="10000"/>
                  </a:ext>
                </a:extLst>
              </a:tr>
              <a:tr h="548640">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BMI</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0.19, p = 0.016</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0.14, p = 0.076</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Black vs. White</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Hidden</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+5.0 mmHg (95% CI 2.1 to 7.9)</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2000" b="1" dirty="0">
                          <a:solidFill>
                            <a:srgbClr val="2A1E21"/>
                          </a:solidFill>
                          <a:latin typeface="Calibri" pitchFamily="34" charset="0"/>
                          <a:ea typeface="Calibri" pitchFamily="34" charset="-122"/>
                          <a:cs typeface="Calibri" pitchFamily="34" charset="-120"/>
                        </a:rPr>
                        <a:t>Headline</a:t>
                      </a:r>
                      <a:endParaRPr lang="en-US" sz="20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"BMI matters; race doesn't"</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"BMI uncertain; a clear Black–White difference"</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777240" y="4663440"/>
            <a:ext cx="10637215" cy="640080"/>
          </a:xfrm>
          <a:prstGeom prst="rect">
            <a:avLst/>
          </a:prstGeom>
          <a:noFill/>
          <a:ln/>
        </p:spPr>
        <p:txBody>
          <a:bodyPr wrap="square" lIns="0" tIns="0" rIns="0" bIns="0" rtlCol="0" anchor="t"/>
          <a:lstStyle/>
          <a:p>
            <a:pPr marL="0" indent="0">
              <a:buNone/>
            </a:pPr>
            <a:r>
              <a:rPr lang="en-US" sz="1800" dirty="0">
                <a:solidFill>
                  <a:srgbClr val="2A1E21"/>
                </a:solidFill>
                <a:latin typeface="Calibri" pitchFamily="34" charset="0"/>
                <a:ea typeface="Calibri" pitchFamily="34" charset="-122"/>
                <a:cs typeface="Calibri" pitchFamily="34" charset="-120"/>
              </a:rPr>
              <a:t>No error. No warning. A clean table. The only clue: </a:t>
            </a:r>
            <a:r>
              <a:rPr lang="en-US" sz="1800" b="1" dirty="0">
                <a:solidFill>
                  <a:srgbClr val="A51C30"/>
                </a:solidFill>
                <a:latin typeface="Calibri" pitchFamily="34" charset="0"/>
                <a:ea typeface="Calibri" pitchFamily="34" charset="-122"/>
                <a:cs typeface="Calibri" pitchFamily="34" charset="-120"/>
              </a:rPr>
              <a:t>one</a:t>
            </a:r>
            <a:r>
              <a:rPr lang="en-US" sz="1800" dirty="0">
                <a:solidFill>
                  <a:srgbClr val="2A1E21"/>
                </a:solidFill>
                <a:latin typeface="Calibri" pitchFamily="34" charset="0"/>
                <a:ea typeface="Calibri" pitchFamily="34" charset="-122"/>
                <a:cs typeface="Calibri" pitchFamily="34" charset="-120"/>
              </a:rPr>
              <a:t> race row where there should be </a:t>
            </a:r>
            <a:r>
              <a:rPr lang="en-US" sz="1800" b="1" dirty="0">
                <a:solidFill>
                  <a:srgbClr val="A51C30"/>
                </a:solidFill>
                <a:latin typeface="Calibri" pitchFamily="34" charset="0"/>
                <a:ea typeface="Calibri" pitchFamily="34" charset="-122"/>
                <a:cs typeface="Calibri" pitchFamily="34" charset="-120"/>
              </a:rPr>
              <a:t>four</a:t>
            </a:r>
            <a:r>
              <a:rPr lang="en-US" sz="1800" dirty="0">
                <a:solidFill>
                  <a:srgbClr val="2A1E21"/>
                </a:solidFill>
                <a:latin typeface="Calibri" pitchFamily="34" charset="0"/>
                <a:ea typeface="Calibri" pitchFamily="34" charset="-122"/>
                <a:cs typeface="Calibri" pitchFamily="34" charset="-120"/>
              </a:rPr>
              <a: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DEBUGGING WITH AN LLM</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LLMs fix loud bugs. You find silent ones.</a:t>
            </a:r>
            <a:endParaRPr lang="en-US" sz="3200" dirty="0"/>
          </a:p>
        </p:txBody>
      </p:sp>
      <p:sp>
        <p:nvSpPr>
          <p:cNvPr id="5" name="Shape 2"/>
          <p:cNvSpPr/>
          <p:nvPr/>
        </p:nvSpPr>
        <p:spPr>
          <a:xfrm>
            <a:off x="777240" y="1874520"/>
            <a:ext cx="5175504" cy="3931920"/>
          </a:xfrm>
          <a:prstGeom prst="roundRect">
            <a:avLst>
              <a:gd name="adj" fmla="val 2791"/>
            </a:avLst>
          </a:prstGeom>
          <a:solidFill>
            <a:srgbClr val="4A6272"/>
          </a:solidFill>
          <a:ln w="9525">
            <a:solidFill>
              <a:srgbClr val="4A6272"/>
            </a:solidFill>
            <a:prstDash val="solid"/>
          </a:ln>
        </p:spPr>
        <p:txBody>
          <a:bodyPr/>
          <a:lstStyle/>
          <a:p>
            <a:endParaRPr lang="en-US"/>
          </a:p>
        </p:txBody>
      </p:sp>
      <p:sp>
        <p:nvSpPr>
          <p:cNvPr id="6" name="Shape 3"/>
          <p:cNvSpPr/>
          <p:nvPr/>
        </p:nvSpPr>
        <p:spPr>
          <a:xfrm>
            <a:off x="777240" y="1938528"/>
            <a:ext cx="5175504" cy="3867912"/>
          </a:xfrm>
          <a:prstGeom prst="roundRect">
            <a:avLst>
              <a:gd name="adj" fmla="val 2837"/>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97280" y="2194560"/>
            <a:ext cx="4572000" cy="457200"/>
          </a:xfrm>
          <a:prstGeom prst="rect">
            <a:avLst/>
          </a:prstGeom>
          <a:noFill/>
          <a:ln/>
        </p:spPr>
        <p:txBody>
          <a:bodyPr wrap="square" lIns="0" tIns="0" rIns="0" bIns="0" rtlCol="0" anchor="t"/>
          <a:lstStyle/>
          <a:p>
            <a:pPr marL="0" indent="0">
              <a:buNone/>
            </a:pPr>
            <a:r>
              <a:rPr lang="en-US" sz="2400" b="1" dirty="0">
                <a:solidFill>
                  <a:srgbClr val="4A6272"/>
                </a:solidFill>
                <a:latin typeface="Calibri" pitchFamily="34" charset="0"/>
                <a:ea typeface="Calibri" pitchFamily="34" charset="-122"/>
                <a:cs typeface="Calibri" pitchFamily="34" charset="-120"/>
              </a:rPr>
              <a:t>Loud: R stops</a:t>
            </a:r>
            <a:endParaRPr lang="en-US" sz="2400" dirty="0"/>
          </a:p>
        </p:txBody>
      </p:sp>
      <p:sp>
        <p:nvSpPr>
          <p:cNvPr id="8" name="Text 5"/>
          <p:cNvSpPr txBox="1"/>
          <p:nvPr/>
        </p:nvSpPr>
        <p:spPr>
          <a:xfrm>
            <a:off x="937260" y="2743200"/>
            <a:ext cx="4855464" cy="283464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Paste the full error and the code</a:t>
            </a:r>
            <a:endParaRPr lang="en-US" dirty="0"/>
          </a:p>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Ask: "What does this mean, and how do I fix it?"</a:t>
            </a:r>
            <a:endParaRPr lang="en-US" dirty="0"/>
          </a:p>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Rerun, and read the new messages</a:t>
            </a:r>
            <a:endParaRPr lang="en-US" dirty="0"/>
          </a:p>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Don't understand the fix? Ask it to explain it line by line</a:t>
            </a:r>
            <a:endParaRPr lang="en-US" dirty="0"/>
          </a:p>
        </p:txBody>
      </p:sp>
      <p:sp>
        <p:nvSpPr>
          <p:cNvPr id="9" name="Shape 6"/>
          <p:cNvSpPr/>
          <p:nvPr/>
        </p:nvSpPr>
        <p:spPr>
          <a:xfrm>
            <a:off x="6236208" y="1874520"/>
            <a:ext cx="5175504" cy="3931920"/>
          </a:xfrm>
          <a:prstGeom prst="roundRect">
            <a:avLst>
              <a:gd name="adj" fmla="val 2791"/>
            </a:avLst>
          </a:prstGeom>
          <a:solidFill>
            <a:srgbClr val="A51C30"/>
          </a:solidFill>
          <a:ln w="9525">
            <a:solidFill>
              <a:srgbClr val="A51C30"/>
            </a:solidFill>
            <a:prstDash val="solid"/>
          </a:ln>
        </p:spPr>
        <p:txBody>
          <a:bodyPr/>
          <a:lstStyle/>
          <a:p>
            <a:endParaRPr lang="en-US"/>
          </a:p>
        </p:txBody>
      </p:sp>
      <p:sp>
        <p:nvSpPr>
          <p:cNvPr id="10" name="Shape 7"/>
          <p:cNvSpPr/>
          <p:nvPr/>
        </p:nvSpPr>
        <p:spPr>
          <a:xfrm>
            <a:off x="6236208" y="1938528"/>
            <a:ext cx="5175504" cy="3867912"/>
          </a:xfrm>
          <a:prstGeom prst="roundRect">
            <a:avLst>
              <a:gd name="adj" fmla="val 2837"/>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6556248" y="2194560"/>
            <a:ext cx="4572000" cy="45720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Silent: R finishes</a:t>
            </a:r>
            <a:endParaRPr lang="en-US" sz="2400" dirty="0"/>
          </a:p>
        </p:txBody>
      </p:sp>
      <p:sp>
        <p:nvSpPr>
          <p:cNvPr id="12" name="Text 9"/>
          <p:cNvSpPr txBox="1"/>
          <p:nvPr/>
        </p:nvSpPr>
        <p:spPr>
          <a:xfrm>
            <a:off x="6556248" y="2743200"/>
            <a:ext cx="4572000" cy="283464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Check n at every step</a:t>
            </a:r>
            <a:endParaRPr lang="en-US" dirty="0"/>
          </a:p>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Check types with glimpse()</a:t>
            </a:r>
            <a:endParaRPr lang="en-US" dirty="0"/>
          </a:p>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Test on 6 rows where you know the answer</a:t>
            </a:r>
            <a:endParaRPr lang="en-US" dirty="0"/>
          </a:p>
          <a:p>
            <a:pPr marL="342900" indent="-342900">
              <a:spcAft>
                <a:spcPts val="800"/>
              </a:spcAft>
              <a:buSzPct val="100000"/>
              <a:buFont typeface="+mj-lt"/>
              <a:buAutoNum type="arabicPeriod"/>
            </a:pPr>
            <a:r>
              <a:rPr lang="en-US" dirty="0">
                <a:solidFill>
                  <a:srgbClr val="5F5256"/>
                </a:solidFill>
                <a:latin typeface="Calibri" pitchFamily="34" charset="0"/>
                <a:ea typeface="Calibri" pitchFamily="34" charset="-122"/>
                <a:cs typeface="Calibri" pitchFamily="34" charset="-120"/>
              </a:rPr>
              <a:t>Ask pointed questions: "Is race treated as categorical here?"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EXPORTING · LIVE IN RSTUDIO</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One .Rmd, every format you need</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66549607"/>
              </p:ext>
            </p:extLst>
          </p:nvPr>
        </p:nvGraphicFramePr>
        <p:xfrm>
          <a:off x="777240" y="1874520"/>
          <a:ext cx="10634472" cy="2743200"/>
        </p:xfrm>
        <a:graphic>
          <a:graphicData uri="http://schemas.openxmlformats.org/drawingml/2006/table">
            <a:tbl>
              <a:tblPr/>
              <a:tblGrid>
                <a:gridCol w="25603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410712">
                  <a:extLst>
                    <a:ext uri="{9D8B030D-6E8A-4147-A177-3AD203B41FA5}">
                      <a16:colId xmlns:a16="http://schemas.microsoft.com/office/drawing/2014/main" val="20002"/>
                    </a:ext>
                  </a:extLst>
                </a:gridCol>
              </a:tblGrid>
              <a:tr h="45720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How</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Use it for</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7ECEE"/>
                    </a:solidFill>
                  </a:tcPr>
                </a:tc>
                <a:extLst>
                  <a:ext uri="{0D108BD9-81ED-4DB2-BD59-A6C34878D82A}">
                    <a16:rowId xmlns:a16="http://schemas.microsoft.com/office/drawing/2014/main" val="10000"/>
                  </a:ext>
                </a:extLst>
              </a:tr>
              <a:tr h="45720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HTML</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Knit → html_document</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Sharing with your advisor</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Word</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Knit → word_document; tables via flextable</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Manuscripts, Table 1</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PowerPoint</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ourier New" pitchFamily="34" charset="0"/>
                          <a:ea typeface="Courier New" pitchFamily="34" charset="-122"/>
                          <a:cs typeface="Courier New" pitchFamily="34" charset="-120"/>
                        </a:rPr>
                        <a:t>save_as_pptx()</a:t>
                      </a:r>
                      <a:r>
                        <a:rPr lang="en-US" sz="1800" dirty="0">
                          <a:solidFill>
                            <a:srgbClr val="2A1E21"/>
                          </a:solidFill>
                          <a:latin typeface="Calibri" pitchFamily="34" charset="0"/>
                          <a:ea typeface="Calibri" pitchFamily="34" charset="-122"/>
                          <a:cs typeface="Calibri" pitchFamily="34" charset="-120"/>
                        </a:rPr>
                        <a:t> for tables</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Lab meeting slides</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PNG / PDF figure</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ourier New" pitchFamily="34" charset="0"/>
                          <a:ea typeface="Courier New" pitchFamily="34" charset="-122"/>
                          <a:cs typeface="Courier New" pitchFamily="34" charset="-120"/>
                        </a:rPr>
                        <a:t>ggsave()</a:t>
                      </a:r>
                      <a:endParaRPr lang="en-US" sz="18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Slides / journals</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800" b="1" dirty="0">
                          <a:solidFill>
                            <a:srgbClr val="2A1E21"/>
                          </a:solidFill>
                          <a:latin typeface="Calibri" pitchFamily="34" charset="0"/>
                          <a:ea typeface="Calibri" pitchFamily="34" charset="-122"/>
                          <a:cs typeface="Calibri" pitchFamily="34" charset="-120"/>
                        </a:rPr>
                        <a:t>CSV</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ourier New" pitchFamily="34" charset="0"/>
                          <a:ea typeface="Courier New" pitchFamily="34" charset="-122"/>
                          <a:cs typeface="Courier New" pitchFamily="34" charset="-120"/>
                        </a:rPr>
                        <a:t>write_csv()</a:t>
                      </a:r>
                      <a:endParaRPr lang="en-US" sz="1800" dirty="0">
                        <a:latin typeface="Courier New" charset="0"/>
                        <a:ea typeface="Courier New" charset="0"/>
                        <a:cs typeface="Courier New"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tc>
                  <a:txBody>
                    <a:bodyPr/>
                    <a:lstStyle/>
                    <a:p>
                      <a:pPr marL="0" indent="0">
                        <a:buNone/>
                      </a:pPr>
                      <a:r>
                        <a:rPr lang="en-US" sz="1800" dirty="0">
                          <a:solidFill>
                            <a:srgbClr val="2A1E21"/>
                          </a:solidFill>
                          <a:latin typeface="Calibri" pitchFamily="34" charset="0"/>
                          <a:ea typeface="Calibri" pitchFamily="34" charset="-122"/>
                          <a:cs typeface="Calibri" pitchFamily="34" charset="-120"/>
                        </a:rPr>
                        <a:t>The cleaned analysis file</a:t>
                      </a:r>
                      <a:endParaRPr lang="en-US" sz="1800" dirty="0">
                        <a:latin typeface="Calibri" charset="0"/>
                        <a:ea typeface="Calibri" charset="0"/>
                        <a:cs typeface="Calibri" charset="0"/>
                      </a:endParaRPr>
                    </a:p>
                  </a:txBody>
                  <a:tcPr marL="101600" marR="101600" marT="50800" marB="50800" anchor="ctr">
                    <a:lnL w="9525" cap="flat" cmpd="sng" algn="ctr">
                      <a:solidFill>
                        <a:srgbClr val="E8D3D7"/>
                      </a:solidFill>
                      <a:prstDash val="solid"/>
                      <a:round/>
                      <a:headEnd type="none" w="med" len="med"/>
                      <a:tailEnd type="none" w="med" len="med"/>
                    </a:lnL>
                    <a:lnR w="9525" cap="flat" cmpd="sng" algn="ctr">
                      <a:solidFill>
                        <a:srgbClr val="E8D3D7"/>
                      </a:solidFill>
                      <a:prstDash val="solid"/>
                      <a:round/>
                      <a:headEnd type="none" w="med" len="med"/>
                      <a:tailEnd type="none" w="med" len="med"/>
                    </a:lnR>
                    <a:lnT w="9525" cap="flat" cmpd="sng" algn="ctr">
                      <a:solidFill>
                        <a:srgbClr val="E8D3D7"/>
                      </a:solidFill>
                      <a:prstDash val="solid"/>
                      <a:round/>
                      <a:headEnd type="none" w="med" len="med"/>
                      <a:tailEnd type="none" w="med" len="med"/>
                    </a:lnT>
                    <a:lnB w="9525" cap="flat" cmpd="sng" algn="ctr">
                      <a:solidFill>
                        <a:srgbClr val="E8D3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txBox="1"/>
          <p:nvPr/>
        </p:nvSpPr>
        <p:spPr>
          <a:xfrm>
            <a:off x="777240" y="4983480"/>
            <a:ext cx="10637215" cy="548640"/>
          </a:xfrm>
          <a:prstGeom prst="rect">
            <a:avLst/>
          </a:prstGeom>
          <a:noFill/>
          <a:ln/>
        </p:spPr>
        <p:txBody>
          <a:bodyPr wrap="square" lIns="0" tIns="0" rIns="0" bIns="0" rtlCol="0" anchor="t"/>
          <a:lstStyle/>
          <a:p>
            <a:pPr marL="0" indent="0">
              <a:buNone/>
            </a:pPr>
            <a:r>
              <a:rPr lang="en-US" dirty="0">
                <a:solidFill>
                  <a:srgbClr val="5F5256"/>
                </a:solidFill>
                <a:latin typeface="Calibri" pitchFamily="34" charset="0"/>
                <a:ea typeface="Calibri" pitchFamily="34" charset="-122"/>
                <a:cs typeface="Calibri" pitchFamily="34" charset="-120"/>
              </a:rPr>
              <a:t>A .docx downloaded from a chat looks the same, but </a:t>
            </a:r>
            <a:r>
              <a:rPr lang="en-US" b="1" dirty="0">
                <a:solidFill>
                  <a:srgbClr val="5F5256"/>
                </a:solidFill>
                <a:latin typeface="Calibri" pitchFamily="34" charset="0"/>
                <a:ea typeface="Calibri" pitchFamily="34" charset="-122"/>
                <a:cs typeface="Calibri" pitchFamily="34" charset="-120"/>
              </a:rPr>
              <a:t>can't be rerun</a:t>
            </a:r>
            <a:r>
              <a:rPr lang="en-US" dirty="0">
                <a:solidFill>
                  <a:srgbClr val="5F5256"/>
                </a:solidFill>
                <a:latin typeface="Calibri" pitchFamily="34" charset="0"/>
                <a:ea typeface="Calibri" pitchFamily="34" charset="-122"/>
                <a:cs typeface="Calibri" pitchFamily="34" charset="-120"/>
              </a:rPr>
              <a:t> when a reviewer asks for changes.</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PART 5 · RIGHT TOOL FOR THE QUESTION</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LLM, documentation, or a human?</a:t>
            </a:r>
            <a:endParaRPr lang="en-US" sz="3200" dirty="0"/>
          </a:p>
        </p:txBody>
      </p:sp>
      <p:sp>
        <p:nvSpPr>
          <p:cNvPr id="5" name="Shape 2"/>
          <p:cNvSpPr/>
          <p:nvPr/>
        </p:nvSpPr>
        <p:spPr>
          <a:xfrm>
            <a:off x="777240" y="1874520"/>
            <a:ext cx="3410712" cy="3749040"/>
          </a:xfrm>
          <a:prstGeom prst="roundRect">
            <a:avLst>
              <a:gd name="adj" fmla="val 3217"/>
            </a:avLst>
          </a:prstGeom>
          <a:solidFill>
            <a:srgbClr val="A51C30"/>
          </a:solidFill>
          <a:ln w="9525">
            <a:solidFill>
              <a:srgbClr val="A51C30"/>
            </a:solidFill>
            <a:prstDash val="solid"/>
          </a:ln>
        </p:spPr>
        <p:txBody>
          <a:bodyPr/>
          <a:lstStyle/>
          <a:p>
            <a:endParaRPr lang="en-US"/>
          </a:p>
        </p:txBody>
      </p:sp>
      <p:sp>
        <p:nvSpPr>
          <p:cNvPr id="6" name="Shape 3"/>
          <p:cNvSpPr/>
          <p:nvPr/>
        </p:nvSpPr>
        <p:spPr>
          <a:xfrm>
            <a:off x="777240" y="1938528"/>
            <a:ext cx="3410712" cy="3685032"/>
          </a:xfrm>
          <a:prstGeom prst="roundRect">
            <a:avLst>
              <a:gd name="adj" fmla="val 3217"/>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51560" y="2194560"/>
            <a:ext cx="2862072" cy="45720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Ask the LLM</a:t>
            </a:r>
            <a:endParaRPr lang="en-US" sz="2400" dirty="0"/>
          </a:p>
        </p:txBody>
      </p:sp>
      <p:sp>
        <p:nvSpPr>
          <p:cNvPr id="8" name="Text 5"/>
          <p:cNvSpPr txBox="1"/>
          <p:nvPr/>
        </p:nvSpPr>
        <p:spPr>
          <a:xfrm>
            <a:off x="1051560" y="2743200"/>
            <a:ext cx="2862072" cy="26517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"How do I…" in R</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Decoding an error</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Repetitive code</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Explaining code you wrote</a:t>
            </a:r>
            <a:endParaRPr lang="en-US" sz="2000" dirty="0"/>
          </a:p>
        </p:txBody>
      </p:sp>
      <p:sp>
        <p:nvSpPr>
          <p:cNvPr id="9" name="Shape 6"/>
          <p:cNvSpPr/>
          <p:nvPr/>
        </p:nvSpPr>
        <p:spPr>
          <a:xfrm>
            <a:off x="4370832" y="1874520"/>
            <a:ext cx="3410712" cy="3749040"/>
          </a:xfrm>
          <a:prstGeom prst="roundRect">
            <a:avLst>
              <a:gd name="adj" fmla="val 3217"/>
            </a:avLst>
          </a:prstGeom>
          <a:solidFill>
            <a:srgbClr val="A51C30"/>
          </a:solidFill>
          <a:ln w="9525">
            <a:solidFill>
              <a:srgbClr val="A51C30"/>
            </a:solidFill>
            <a:prstDash val="solid"/>
          </a:ln>
        </p:spPr>
        <p:txBody>
          <a:bodyPr/>
          <a:lstStyle/>
          <a:p>
            <a:endParaRPr lang="en-US"/>
          </a:p>
        </p:txBody>
      </p:sp>
      <p:sp>
        <p:nvSpPr>
          <p:cNvPr id="10" name="Shape 7"/>
          <p:cNvSpPr/>
          <p:nvPr/>
        </p:nvSpPr>
        <p:spPr>
          <a:xfrm>
            <a:off x="4370832" y="1938528"/>
            <a:ext cx="3410712" cy="3685032"/>
          </a:xfrm>
          <a:prstGeom prst="roundRect">
            <a:avLst>
              <a:gd name="adj" fmla="val 3217"/>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4645152" y="2194560"/>
            <a:ext cx="2862072" cy="45720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Read the docs</a:t>
            </a:r>
            <a:endParaRPr lang="en-US" sz="2400" dirty="0"/>
          </a:p>
        </p:txBody>
      </p:sp>
      <p:sp>
        <p:nvSpPr>
          <p:cNvPr id="12" name="Text 9"/>
          <p:cNvSpPr txBox="1"/>
          <p:nvPr/>
        </p:nvSpPr>
        <p:spPr>
          <a:xfrm>
            <a:off x="4645152" y="2743200"/>
            <a:ext cx="2862072" cy="26517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What a function does exactly</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All the arguments, not just common ones</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Package vignettes</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Is this syntax current?</a:t>
            </a:r>
            <a:endParaRPr lang="en-US" sz="2000" dirty="0"/>
          </a:p>
        </p:txBody>
      </p:sp>
      <p:sp>
        <p:nvSpPr>
          <p:cNvPr id="13" name="Shape 10"/>
          <p:cNvSpPr/>
          <p:nvPr/>
        </p:nvSpPr>
        <p:spPr>
          <a:xfrm>
            <a:off x="7964424" y="1874520"/>
            <a:ext cx="3410712" cy="3749040"/>
          </a:xfrm>
          <a:prstGeom prst="roundRect">
            <a:avLst>
              <a:gd name="adj" fmla="val 3217"/>
            </a:avLst>
          </a:prstGeom>
          <a:solidFill>
            <a:srgbClr val="A51C30"/>
          </a:solidFill>
          <a:ln w="9525">
            <a:solidFill>
              <a:srgbClr val="A51C30"/>
            </a:solidFill>
            <a:prstDash val="solid"/>
          </a:ln>
        </p:spPr>
        <p:txBody>
          <a:bodyPr/>
          <a:lstStyle/>
          <a:p>
            <a:endParaRPr lang="en-US"/>
          </a:p>
        </p:txBody>
      </p:sp>
      <p:sp>
        <p:nvSpPr>
          <p:cNvPr id="14" name="Shape 11"/>
          <p:cNvSpPr/>
          <p:nvPr/>
        </p:nvSpPr>
        <p:spPr>
          <a:xfrm>
            <a:off x="7964424" y="1938528"/>
            <a:ext cx="3410712" cy="3685032"/>
          </a:xfrm>
          <a:prstGeom prst="roundRect">
            <a:avLst>
              <a:gd name="adj" fmla="val 3217"/>
            </a:avLst>
          </a:prstGeom>
          <a:solidFill>
            <a:srgbClr val="FFFFFF"/>
          </a:solidFill>
          <a:ln w="9525">
            <a:solidFill>
              <a:srgbClr val="E8D3D7"/>
            </a:solidFill>
            <a:prstDash val="solid"/>
          </a:ln>
        </p:spPr>
        <p:txBody>
          <a:bodyPr/>
          <a:lstStyle/>
          <a:p>
            <a:endParaRPr lang="en-US"/>
          </a:p>
        </p:txBody>
      </p:sp>
      <p:sp>
        <p:nvSpPr>
          <p:cNvPr id="15" name="Text 12"/>
          <p:cNvSpPr txBox="1"/>
          <p:nvPr/>
        </p:nvSpPr>
        <p:spPr>
          <a:xfrm>
            <a:off x="8238744" y="2194560"/>
            <a:ext cx="2862072" cy="45720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Ask a human</a:t>
            </a:r>
            <a:endParaRPr lang="en-US" sz="2400" dirty="0"/>
          </a:p>
        </p:txBody>
      </p:sp>
      <p:sp>
        <p:nvSpPr>
          <p:cNvPr id="16" name="Text 13"/>
          <p:cNvSpPr txBox="1"/>
          <p:nvPr/>
        </p:nvSpPr>
        <p:spPr>
          <a:xfrm>
            <a:off x="8238744" y="2743200"/>
            <a:ext cx="2862072" cy="26517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Which test or model</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Interpreting results</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Design and sample size</a:t>
            </a:r>
            <a:endParaRPr lang="en-US" sz="2000" dirty="0"/>
          </a:p>
          <a:p>
            <a:pPr marL="342900" indent="-342900">
              <a:spcAft>
                <a:spcPts val="800"/>
              </a:spcAft>
              <a:buSzPct val="100000"/>
              <a:buChar char="•"/>
            </a:pPr>
            <a:r>
              <a:rPr lang="en-US" sz="2000" dirty="0">
                <a:solidFill>
                  <a:srgbClr val="5F5256"/>
                </a:solidFill>
                <a:latin typeface="Calibri" pitchFamily="34" charset="0"/>
                <a:ea typeface="Calibri" pitchFamily="34" charset="-122"/>
                <a:cs typeface="Calibri" pitchFamily="34" charset="-120"/>
              </a:rPr>
              <a:t>"Something feels off"</a:t>
            </a:r>
            <a:endParaRPr lang="en-US" sz="2000" dirty="0"/>
          </a:p>
        </p:txBody>
      </p:sp>
      <p:sp>
        <p:nvSpPr>
          <p:cNvPr id="17" name="Text 14"/>
          <p:cNvSpPr txBox="1"/>
          <p:nvPr/>
        </p:nvSpPr>
        <p:spPr>
          <a:xfrm>
            <a:off x="777240" y="6172200"/>
            <a:ext cx="10637215" cy="320040"/>
          </a:xfrm>
          <a:prstGeom prst="rect">
            <a:avLst/>
          </a:prstGeom>
          <a:noFill/>
          <a:ln/>
        </p:spPr>
        <p:txBody>
          <a:bodyPr wrap="square" lIns="0" tIns="0" rIns="0" bIns="0" rtlCol="0" anchor="t"/>
          <a:lstStyle/>
          <a:p>
            <a:pPr marL="0" indent="0">
              <a:buNone/>
            </a:pPr>
            <a:r>
              <a:rPr lang="en-US" sz="1100" dirty="0">
                <a:solidFill>
                  <a:srgbClr val="7A6C70"/>
                </a:solidFill>
                <a:latin typeface="Calibri" pitchFamily="34" charset="0"/>
                <a:ea typeface="Calibri" pitchFamily="34" charset="-122"/>
                <a:cs typeface="Calibri" pitchFamily="34" charset="-120"/>
              </a:rPr>
              <a:t>Adapted from Della Vedova C. Bull Dial Domic. 2026;9(2). doi:10.25796/bdd.v9i2.87112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640080"/>
            <a:ext cx="10637215" cy="274320"/>
          </a:xfrm>
          <a:prstGeom prst="rect">
            <a:avLst/>
          </a:prstGeom>
          <a:noFill/>
          <a:ln/>
        </p:spPr>
        <p:txBody>
          <a:bodyPr wrap="square" lIns="0" tIns="0" rIns="0" bIns="0" rtlCol="0" anchor="t"/>
          <a:lstStyle/>
          <a:p>
            <a:pPr marL="0" indent="0">
              <a:buNone/>
            </a:pPr>
            <a:r>
              <a:rPr lang="en-US" sz="1200" b="1" kern="0" spc="200" dirty="0">
                <a:solidFill>
                  <a:srgbClr val="A51C30"/>
                </a:solidFill>
                <a:latin typeface="Calibri" pitchFamily="34" charset="0"/>
                <a:ea typeface="Calibri" pitchFamily="34" charset="-122"/>
                <a:cs typeface="Calibri" pitchFamily="34" charset="-120"/>
              </a:rPr>
              <a:t>TAKE THIS WITH YOU</a:t>
            </a:r>
            <a:endParaRPr lang="en-US" sz="1200" dirty="0"/>
          </a:p>
        </p:txBody>
      </p:sp>
      <p:sp>
        <p:nvSpPr>
          <p:cNvPr id="4" name="Text 1"/>
          <p:cNvSpPr txBox="1"/>
          <p:nvPr/>
        </p:nvSpPr>
        <p:spPr>
          <a:xfrm>
            <a:off x="777240" y="932688"/>
            <a:ext cx="10637215" cy="685800"/>
          </a:xfrm>
          <a:prstGeom prst="rect">
            <a:avLst/>
          </a:prstGeom>
          <a:noFill/>
          <a:ln/>
        </p:spPr>
        <p:txBody>
          <a:bodyPr wrap="square" lIns="0" tIns="0" rIns="0" bIns="0" rtlCol="0" anchor="ctr"/>
          <a:lstStyle/>
          <a:p>
            <a:pPr marL="0" indent="0">
              <a:buNone/>
            </a:pPr>
            <a:r>
              <a:rPr lang="en-US" sz="3200" b="1" dirty="0">
                <a:solidFill>
                  <a:srgbClr val="2A1E21"/>
                </a:solidFill>
                <a:latin typeface="Cambria" pitchFamily="34" charset="0"/>
                <a:ea typeface="Cambria" pitchFamily="34" charset="-122"/>
                <a:cs typeface="Cambria" pitchFamily="34" charset="-120"/>
              </a:rPr>
              <a:t>Dos and don'ts</a:t>
            </a:r>
            <a:endParaRPr lang="en-US" sz="3200" dirty="0"/>
          </a:p>
        </p:txBody>
      </p:sp>
      <p:sp>
        <p:nvSpPr>
          <p:cNvPr id="5" name="Shape 2"/>
          <p:cNvSpPr/>
          <p:nvPr/>
        </p:nvSpPr>
        <p:spPr>
          <a:xfrm>
            <a:off x="777240" y="1874520"/>
            <a:ext cx="5175504" cy="4343400"/>
          </a:xfrm>
          <a:prstGeom prst="roundRect">
            <a:avLst>
              <a:gd name="adj" fmla="val 2526"/>
            </a:avLst>
          </a:prstGeom>
          <a:solidFill>
            <a:srgbClr val="4A6272"/>
          </a:solidFill>
          <a:ln w="9525">
            <a:solidFill>
              <a:srgbClr val="4A6272"/>
            </a:solidFill>
            <a:prstDash val="solid"/>
          </a:ln>
        </p:spPr>
        <p:txBody>
          <a:bodyPr/>
          <a:lstStyle/>
          <a:p>
            <a:endParaRPr lang="en-US"/>
          </a:p>
        </p:txBody>
      </p:sp>
      <p:sp>
        <p:nvSpPr>
          <p:cNvPr id="6" name="Shape 3"/>
          <p:cNvSpPr/>
          <p:nvPr/>
        </p:nvSpPr>
        <p:spPr>
          <a:xfrm>
            <a:off x="777240" y="1938528"/>
            <a:ext cx="5175504" cy="4279392"/>
          </a:xfrm>
          <a:prstGeom prst="roundRect">
            <a:avLst>
              <a:gd name="adj" fmla="val 2564"/>
            </a:avLst>
          </a:prstGeom>
          <a:solidFill>
            <a:srgbClr val="FFFFFF"/>
          </a:solidFill>
          <a:ln w="9525">
            <a:solidFill>
              <a:srgbClr val="E8D3D7"/>
            </a:solidFill>
            <a:prstDash val="solid"/>
          </a:ln>
        </p:spPr>
        <p:txBody>
          <a:bodyPr/>
          <a:lstStyle/>
          <a:p>
            <a:endParaRPr lang="en-US"/>
          </a:p>
        </p:txBody>
      </p:sp>
      <p:sp>
        <p:nvSpPr>
          <p:cNvPr id="7" name="Text 4"/>
          <p:cNvSpPr txBox="1"/>
          <p:nvPr/>
        </p:nvSpPr>
        <p:spPr>
          <a:xfrm>
            <a:off x="1097280" y="2148840"/>
            <a:ext cx="4572000" cy="457200"/>
          </a:xfrm>
          <a:prstGeom prst="rect">
            <a:avLst/>
          </a:prstGeom>
          <a:noFill/>
          <a:ln/>
        </p:spPr>
        <p:txBody>
          <a:bodyPr wrap="square" lIns="0" tIns="0" rIns="0" bIns="0" rtlCol="0" anchor="t"/>
          <a:lstStyle/>
          <a:p>
            <a:pPr marL="0" indent="0">
              <a:buNone/>
            </a:pPr>
            <a:r>
              <a:rPr lang="en-US" sz="2400" b="1" dirty="0">
                <a:solidFill>
                  <a:srgbClr val="4A6272"/>
                </a:solidFill>
                <a:latin typeface="Calibri" pitchFamily="34" charset="0"/>
                <a:ea typeface="Calibri" pitchFamily="34" charset="-122"/>
                <a:cs typeface="Calibri" pitchFamily="34" charset="-120"/>
              </a:rPr>
              <a:t>Do</a:t>
            </a:r>
            <a:endParaRPr lang="en-US" sz="2400" dirty="0"/>
          </a:p>
        </p:txBody>
      </p:sp>
      <p:sp>
        <p:nvSpPr>
          <p:cNvPr id="8" name="Text 5"/>
          <p:cNvSpPr txBox="1"/>
          <p:nvPr/>
        </p:nvSpPr>
        <p:spPr>
          <a:xfrm>
            <a:off x="1097280" y="2651760"/>
            <a:ext cx="4572000" cy="342900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Describe the structure, not the records</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Say what you want; let it pick functions, then look them up</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Ask what assumptions a test needs</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Read every warning; check n at every step</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Test on a tiny dataset with a known answer</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Keep it all in a reproducible .Rmd, prompts too</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Have a human review methods and interpretation</a:t>
            </a:r>
            <a:endParaRPr lang="en-US" dirty="0"/>
          </a:p>
        </p:txBody>
      </p:sp>
      <p:sp>
        <p:nvSpPr>
          <p:cNvPr id="9" name="Shape 6"/>
          <p:cNvSpPr/>
          <p:nvPr/>
        </p:nvSpPr>
        <p:spPr>
          <a:xfrm>
            <a:off x="6236208" y="1874520"/>
            <a:ext cx="5175504" cy="4343400"/>
          </a:xfrm>
          <a:prstGeom prst="roundRect">
            <a:avLst>
              <a:gd name="adj" fmla="val 2526"/>
            </a:avLst>
          </a:prstGeom>
          <a:solidFill>
            <a:srgbClr val="A51C30"/>
          </a:solidFill>
          <a:ln w="9525">
            <a:solidFill>
              <a:srgbClr val="A51C30"/>
            </a:solidFill>
            <a:prstDash val="solid"/>
          </a:ln>
        </p:spPr>
        <p:txBody>
          <a:bodyPr/>
          <a:lstStyle/>
          <a:p>
            <a:endParaRPr lang="en-US"/>
          </a:p>
        </p:txBody>
      </p:sp>
      <p:sp>
        <p:nvSpPr>
          <p:cNvPr id="10" name="Shape 7"/>
          <p:cNvSpPr/>
          <p:nvPr/>
        </p:nvSpPr>
        <p:spPr>
          <a:xfrm>
            <a:off x="6236208" y="1938528"/>
            <a:ext cx="5175504" cy="4279392"/>
          </a:xfrm>
          <a:prstGeom prst="roundRect">
            <a:avLst>
              <a:gd name="adj" fmla="val 2564"/>
            </a:avLst>
          </a:prstGeom>
          <a:solidFill>
            <a:srgbClr val="FFFFFF"/>
          </a:solidFill>
          <a:ln w="9525">
            <a:solidFill>
              <a:srgbClr val="E8D3D7"/>
            </a:solidFill>
            <a:prstDash val="solid"/>
          </a:ln>
        </p:spPr>
        <p:txBody>
          <a:bodyPr/>
          <a:lstStyle/>
          <a:p>
            <a:endParaRPr lang="en-US"/>
          </a:p>
        </p:txBody>
      </p:sp>
      <p:sp>
        <p:nvSpPr>
          <p:cNvPr id="11" name="Text 8"/>
          <p:cNvSpPr txBox="1"/>
          <p:nvPr/>
        </p:nvSpPr>
        <p:spPr>
          <a:xfrm>
            <a:off x="6556248" y="2148840"/>
            <a:ext cx="4572000" cy="457200"/>
          </a:xfrm>
          <a:prstGeom prst="rect">
            <a:avLst/>
          </a:prstGeom>
          <a:noFill/>
          <a:ln/>
        </p:spPr>
        <p:txBody>
          <a:bodyPr wrap="square" lIns="0" tIns="0" rIns="0" bIns="0" rtlCol="0" anchor="t"/>
          <a:lstStyle/>
          <a:p>
            <a:pPr marL="0" indent="0">
              <a:buNone/>
            </a:pPr>
            <a:r>
              <a:rPr lang="en-US" sz="2400" b="1" dirty="0">
                <a:solidFill>
                  <a:srgbClr val="A51C30"/>
                </a:solidFill>
                <a:latin typeface="Calibri" pitchFamily="34" charset="0"/>
                <a:ea typeface="Calibri" pitchFamily="34" charset="-122"/>
                <a:cs typeface="Calibri" pitchFamily="34" charset="-120"/>
              </a:rPr>
              <a:t>Don't</a:t>
            </a:r>
            <a:endParaRPr lang="en-US" sz="2400" dirty="0"/>
          </a:p>
        </p:txBody>
      </p:sp>
      <p:sp>
        <p:nvSpPr>
          <p:cNvPr id="12" name="Text 9"/>
          <p:cNvSpPr txBox="1"/>
          <p:nvPr/>
        </p:nvSpPr>
        <p:spPr>
          <a:xfrm>
            <a:off x="6556248" y="2651760"/>
            <a:ext cx="4572000" cy="342900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Upload PHI or DUA-covered data, not even a few rows</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Report numbers the model typed; report what code printed</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Accept "significant," "causes," or "strong" unchecked</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Submit code you can't explain line by line</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Assume two runs or two models agree</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Let the LLM choose your statistical method</a:t>
            </a:r>
            <a:endParaRPr lang="en-US" dirty="0"/>
          </a:p>
          <a:p>
            <a:pPr marL="342900" indent="-342900">
              <a:spcAft>
                <a:spcPts val="500"/>
              </a:spcAft>
              <a:buSzPct val="100000"/>
              <a:buChar char="•"/>
            </a:pPr>
            <a:r>
              <a:rPr lang="en-US" dirty="0">
                <a:solidFill>
                  <a:srgbClr val="5F5256"/>
                </a:solidFill>
                <a:latin typeface="Calibri" pitchFamily="34" charset="0"/>
                <a:ea typeface="Calibri" pitchFamily="34" charset="-122"/>
                <a:cs typeface="Calibri" pitchFamily="34" charset="-120"/>
              </a:rPr>
              <a:t>Skip learning R because the LLM can write it</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AF8"/>
        </a:solidFill>
        <a:effectLst/>
      </p:bgPr>
    </p:bg>
    <p:spTree>
      <p:nvGrpSpPr>
        <p:cNvPr id="1" name=""/>
        <p:cNvGrpSpPr/>
        <p:nvPr/>
      </p:nvGrpSpPr>
      <p:grpSpPr>
        <a:xfrm>
          <a:off x="0" y="0"/>
          <a:ext cx="0" cy="0"/>
          <a:chOff x="0" y="0"/>
          <a:chExt cx="0" cy="0"/>
        </a:xfrm>
      </p:grpSpPr>
      <p:sp>
        <p:nvSpPr>
          <p:cNvPr id="3" name="Text 0"/>
          <p:cNvSpPr txBox="1"/>
          <p:nvPr/>
        </p:nvSpPr>
        <p:spPr>
          <a:xfrm>
            <a:off x="777240" y="731520"/>
            <a:ext cx="10637215" cy="914400"/>
          </a:xfrm>
          <a:prstGeom prst="rect">
            <a:avLst/>
          </a:prstGeom>
          <a:noFill/>
          <a:ln/>
        </p:spPr>
        <p:txBody>
          <a:bodyPr wrap="square" lIns="0" tIns="0" rIns="0" bIns="0" rtlCol="0" anchor="t"/>
          <a:lstStyle/>
          <a:p>
            <a:pPr marL="0" indent="0">
              <a:buNone/>
            </a:pPr>
            <a:r>
              <a:rPr lang="en-US" sz="4800" b="1" dirty="0">
                <a:solidFill>
                  <a:srgbClr val="A51C30"/>
                </a:solidFill>
                <a:latin typeface="Cambria" pitchFamily="34" charset="0"/>
                <a:ea typeface="Cambria" pitchFamily="34" charset="-122"/>
                <a:cs typeface="Cambria" pitchFamily="34" charset="-120"/>
              </a:rPr>
              <a:t>Discussion</a:t>
            </a:r>
            <a:endParaRPr lang="en-US" sz="4800" dirty="0"/>
          </a:p>
        </p:txBody>
      </p:sp>
      <p:sp>
        <p:nvSpPr>
          <p:cNvPr id="4" name="Text 1"/>
          <p:cNvSpPr txBox="1"/>
          <p:nvPr/>
        </p:nvSpPr>
        <p:spPr>
          <a:xfrm>
            <a:off x="777240" y="2011680"/>
            <a:ext cx="10637215" cy="4206240"/>
          </a:xfrm>
          <a:prstGeom prst="rect">
            <a:avLst/>
          </a:prstGeom>
          <a:noFill/>
          <a:ln/>
        </p:spPr>
        <p:txBody>
          <a:bodyPr wrap="square" lIns="0" tIns="0" rIns="0" bIns="0" rtlCol="0" anchor="t"/>
          <a:lstStyle/>
          <a:p>
            <a:pPr marL="342900" indent="-342900">
              <a:spcAft>
                <a:spcPts val="1400"/>
              </a:spcAft>
              <a:buSzPct val="100000"/>
              <a:buFont typeface="+mj-lt"/>
              <a:buAutoNum type="arabicPeriod"/>
            </a:pPr>
            <a:r>
              <a:rPr lang="en-US" sz="2000" dirty="0">
                <a:solidFill>
                  <a:srgbClr val="2A1E21"/>
                </a:solidFill>
                <a:latin typeface="Calibri" pitchFamily="34" charset="0"/>
                <a:ea typeface="Calibri" pitchFamily="34" charset="-122"/>
                <a:cs typeface="Calibri" pitchFamily="34" charset="-120"/>
              </a:rPr>
              <a:t>What would you have needed to know to catch the race bug or the 999s? Where do you learn that?</a:t>
            </a:r>
            <a:endParaRPr lang="en-US" sz="2000" dirty="0"/>
          </a:p>
          <a:p>
            <a:pPr marL="342900" indent="-342900">
              <a:spcAft>
                <a:spcPts val="1400"/>
              </a:spcAft>
              <a:buSzPct val="100000"/>
              <a:buFont typeface="+mj-lt"/>
              <a:buAutoNum type="arabicPeriod"/>
            </a:pPr>
            <a:r>
              <a:rPr lang="en-US" sz="2000" dirty="0">
                <a:solidFill>
                  <a:srgbClr val="2A1E21"/>
                </a:solidFill>
                <a:latin typeface="Calibri" pitchFamily="34" charset="0"/>
                <a:ea typeface="Calibri" pitchFamily="34" charset="-122"/>
                <a:cs typeface="Calibri" pitchFamily="34" charset="-120"/>
              </a:rPr>
              <a:t>If you can't explain a line of code, can you put your name on the paper?</a:t>
            </a:r>
            <a:endParaRPr lang="en-US" sz="2000" dirty="0"/>
          </a:p>
          <a:p>
            <a:pPr marL="342900" indent="-342900">
              <a:spcAft>
                <a:spcPts val="1400"/>
              </a:spcAft>
              <a:buSzPct val="100000"/>
              <a:buFont typeface="+mj-lt"/>
              <a:buAutoNum type="arabicPeriod"/>
            </a:pPr>
            <a:r>
              <a:rPr lang="en-US" sz="2000" dirty="0">
                <a:solidFill>
                  <a:srgbClr val="2A1E21"/>
                </a:solidFill>
                <a:latin typeface="Calibri" pitchFamily="34" charset="0"/>
                <a:ea typeface="Calibri" pitchFamily="34" charset="-122"/>
                <a:cs typeface="Calibri" pitchFamily="34" charset="-120"/>
              </a:rPr>
              <a:t>What should you disclose about LLM use to an advisor, a journal, or a course?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3820</Words>
  <Application>Microsoft Macintosh PowerPoint</Application>
  <PresentationFormat>Widescreen</PresentationFormat>
  <Paragraphs>371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Run, Verify</dc:title>
  <dc:subject>PptxGenJS Presentation</dc:subject>
  <dc:creator>Heather Mattie, PhD</dc:creator>
  <cp:lastModifiedBy>Mattie, Heather</cp:lastModifiedBy>
  <cp:revision>4</cp:revision>
  <dcterms:created xsi:type="dcterms:W3CDTF">2026-09-30T15:11:07Z</dcterms:created>
  <dcterms:modified xsi:type="dcterms:W3CDTF">2026-09-30T15:25:15Z</dcterms:modified>
</cp:coreProperties>
</file>